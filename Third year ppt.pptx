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341" r:id="rId2"/>
    <p:sldId id="342" r:id="rId3"/>
    <p:sldId id="343" r:id="rId4"/>
    <p:sldId id="344" r:id="rId5"/>
    <p:sldId id="345" r:id="rId6"/>
    <p:sldId id="347" r:id="rId7"/>
    <p:sldId id="349" r:id="rId8"/>
    <p:sldId id="350" r:id="rId9"/>
    <p:sldId id="351" r:id="rId10"/>
    <p:sldId id="352" r:id="rId11"/>
    <p:sldId id="332" r:id="rId12"/>
    <p:sldId id="353" r:id="rId13"/>
    <p:sldId id="354" r:id="rId14"/>
    <p:sldId id="356" r:id="rId15"/>
    <p:sldId id="357" r:id="rId16"/>
    <p:sldId id="361" r:id="rId17"/>
    <p:sldId id="363" r:id="rId18"/>
    <p:sldId id="368" r:id="rId19"/>
    <p:sldId id="369" r:id="rId20"/>
    <p:sldId id="32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A2E0E3-C8A8-40B4-A170-9758C43A2133}" v="10" dt="2025-10-13T11:57:48.2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93447" autoAdjust="0"/>
  </p:normalViewPr>
  <p:slideViewPr>
    <p:cSldViewPr snapToGrid="0">
      <p:cViewPr varScale="1">
        <p:scale>
          <a:sx n="75" d="100"/>
          <a:sy n="75" d="100"/>
        </p:scale>
        <p:origin x="43"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SHITA Jha" userId="a4d3ff19029c32e1" providerId="LiveId" clId="{47BDF309-A048-4EB1-889F-786B0F476719}"/>
    <pc:docChg chg="undo custSel addSld modSld sldOrd">
      <pc:chgData name="ESHITA Jha" userId="a4d3ff19029c32e1" providerId="LiveId" clId="{47BDF309-A048-4EB1-889F-786B0F476719}" dt="2025-10-13T11:58:25.364" v="311" actId="1076"/>
      <pc:docMkLst>
        <pc:docMk/>
      </pc:docMkLst>
      <pc:sldChg chg="modSp mod">
        <pc:chgData name="ESHITA Jha" userId="a4d3ff19029c32e1" providerId="LiveId" clId="{47BDF309-A048-4EB1-889F-786B0F476719}" dt="2025-10-13T11:38:24.663" v="119" actId="2711"/>
        <pc:sldMkLst>
          <pc:docMk/>
          <pc:sldMk cId="721145497" sldId="318"/>
        </pc:sldMkLst>
        <pc:spChg chg="mod">
          <ac:chgData name="ESHITA Jha" userId="a4d3ff19029c32e1" providerId="LiveId" clId="{47BDF309-A048-4EB1-889F-786B0F476719}" dt="2025-10-13T11:38:24.663" v="119" actId="2711"/>
          <ac:spMkLst>
            <pc:docMk/>
            <pc:sldMk cId="721145497" sldId="318"/>
            <ac:spMk id="6" creationId="{7938415B-9138-40A8-9E17-54906A209D78}"/>
          </ac:spMkLst>
        </pc:spChg>
      </pc:sldChg>
      <pc:sldChg chg="modSp mod">
        <pc:chgData name="ESHITA Jha" userId="a4d3ff19029c32e1" providerId="LiveId" clId="{47BDF309-A048-4EB1-889F-786B0F476719}" dt="2025-09-14T07:05:05.881" v="112" actId="14100"/>
        <pc:sldMkLst>
          <pc:docMk/>
          <pc:sldMk cId="207871813" sldId="320"/>
        </pc:sldMkLst>
        <pc:spChg chg="mod">
          <ac:chgData name="ESHITA Jha" userId="a4d3ff19029c32e1" providerId="LiveId" clId="{47BDF309-A048-4EB1-889F-786B0F476719}" dt="2025-09-14T07:04:52.155" v="110" actId="403"/>
          <ac:spMkLst>
            <pc:docMk/>
            <pc:sldMk cId="207871813" sldId="320"/>
            <ac:spMk id="3" creationId="{719ED99B-DBC5-4426-BBC6-8BBB2E2998D2}"/>
          </ac:spMkLst>
        </pc:spChg>
        <pc:spChg chg="mod">
          <ac:chgData name="ESHITA Jha" userId="a4d3ff19029c32e1" providerId="LiveId" clId="{47BDF309-A048-4EB1-889F-786B0F476719}" dt="2025-09-14T07:05:05.881" v="112" actId="14100"/>
          <ac:spMkLst>
            <pc:docMk/>
            <pc:sldMk cId="207871813" sldId="320"/>
            <ac:spMk id="5" creationId="{A311BE22-15C4-49E9-92D6-1535F166D04E}"/>
          </ac:spMkLst>
        </pc:spChg>
        <pc:spChg chg="mod">
          <ac:chgData name="ESHITA Jha" userId="a4d3ff19029c32e1" providerId="LiveId" clId="{47BDF309-A048-4EB1-889F-786B0F476719}" dt="2025-09-14T07:04:57.052" v="111" actId="1076"/>
          <ac:spMkLst>
            <pc:docMk/>
            <pc:sldMk cId="207871813" sldId="320"/>
            <ac:spMk id="6" creationId="{7938415B-9138-40A8-9E17-54906A209D78}"/>
          </ac:spMkLst>
        </pc:spChg>
      </pc:sldChg>
      <pc:sldChg chg="modSp mod">
        <pc:chgData name="ESHITA Jha" userId="a4d3ff19029c32e1" providerId="LiveId" clId="{47BDF309-A048-4EB1-889F-786B0F476719}" dt="2025-10-13T11:39:56.862" v="133" actId="2711"/>
        <pc:sldMkLst>
          <pc:docMk/>
          <pc:sldMk cId="1645646340" sldId="322"/>
        </pc:sldMkLst>
        <pc:spChg chg="mod">
          <ac:chgData name="ESHITA Jha" userId="a4d3ff19029c32e1" providerId="LiveId" clId="{47BDF309-A048-4EB1-889F-786B0F476719}" dt="2025-10-13T11:39:56.862" v="133" actId="2711"/>
          <ac:spMkLst>
            <pc:docMk/>
            <pc:sldMk cId="1645646340" sldId="322"/>
            <ac:spMk id="3" creationId="{719ED99B-DBC5-4426-BBC6-8BBB2E2998D2}"/>
          </ac:spMkLst>
        </pc:spChg>
      </pc:sldChg>
      <pc:sldChg chg="modSp mod">
        <pc:chgData name="ESHITA Jha" userId="a4d3ff19029c32e1" providerId="LiveId" clId="{47BDF309-A048-4EB1-889F-786B0F476719}" dt="2025-09-14T06:50:52.540" v="4" actId="5793"/>
        <pc:sldMkLst>
          <pc:docMk/>
          <pc:sldMk cId="3293704118" sldId="325"/>
        </pc:sldMkLst>
        <pc:spChg chg="mod">
          <ac:chgData name="ESHITA Jha" userId="a4d3ff19029c32e1" providerId="LiveId" clId="{47BDF309-A048-4EB1-889F-786B0F476719}" dt="2025-09-14T06:50:52.540" v="4" actId="5793"/>
          <ac:spMkLst>
            <pc:docMk/>
            <pc:sldMk cId="3293704118" sldId="325"/>
            <ac:spMk id="8" creationId="{9BFA075A-FB90-19F8-2565-B2D19CE0A6C3}"/>
          </ac:spMkLst>
        </pc:spChg>
      </pc:sldChg>
      <pc:sldChg chg="addSp delSp modSp mod">
        <pc:chgData name="ESHITA Jha" userId="a4d3ff19029c32e1" providerId="LiveId" clId="{47BDF309-A048-4EB1-889F-786B0F476719}" dt="2025-09-14T07:05:37.942" v="115" actId="1076"/>
        <pc:sldMkLst>
          <pc:docMk/>
          <pc:sldMk cId="3166349420" sldId="329"/>
        </pc:sldMkLst>
        <pc:spChg chg="mod">
          <ac:chgData name="ESHITA Jha" userId="a4d3ff19029c32e1" providerId="LiveId" clId="{47BDF309-A048-4EB1-889F-786B0F476719}" dt="2025-09-14T07:04:33.407" v="105" actId="403"/>
          <ac:spMkLst>
            <pc:docMk/>
            <pc:sldMk cId="3166349420" sldId="329"/>
            <ac:spMk id="3" creationId="{A52E9CC6-A851-10AD-375C-DBA2BF46CACE}"/>
          </ac:spMkLst>
        </pc:spChg>
        <pc:spChg chg="mod">
          <ac:chgData name="ESHITA Jha" userId="a4d3ff19029c32e1" providerId="LiveId" clId="{47BDF309-A048-4EB1-889F-786B0F476719}" dt="2025-09-14T07:04:20.978" v="101" actId="14100"/>
          <ac:spMkLst>
            <pc:docMk/>
            <pc:sldMk cId="3166349420" sldId="329"/>
            <ac:spMk id="5" creationId="{F3C42725-4D94-1506-AFC8-D62AB1FFAE67}"/>
          </ac:spMkLst>
        </pc:spChg>
        <pc:spChg chg="add mod">
          <ac:chgData name="ESHITA Jha" userId="a4d3ff19029c32e1" providerId="LiveId" clId="{47BDF309-A048-4EB1-889F-786B0F476719}" dt="2025-09-14T07:05:37.942" v="115" actId="1076"/>
          <ac:spMkLst>
            <pc:docMk/>
            <pc:sldMk cId="3166349420" sldId="329"/>
            <ac:spMk id="6" creationId="{82032AC0-AE5A-E0D8-AC4C-6150323A934F}"/>
          </ac:spMkLst>
        </pc:spChg>
      </pc:sldChg>
      <pc:sldChg chg="modSp mod">
        <pc:chgData name="ESHITA Jha" userId="a4d3ff19029c32e1" providerId="LiveId" clId="{47BDF309-A048-4EB1-889F-786B0F476719}" dt="2025-10-13T11:39:48.442" v="132" actId="2711"/>
        <pc:sldMkLst>
          <pc:docMk/>
          <pc:sldMk cId="1385107634" sldId="330"/>
        </pc:sldMkLst>
        <pc:spChg chg="mod">
          <ac:chgData name="ESHITA Jha" userId="a4d3ff19029c32e1" providerId="LiveId" clId="{47BDF309-A048-4EB1-889F-786B0F476719}" dt="2025-10-13T11:39:48.442" v="132" actId="2711"/>
          <ac:spMkLst>
            <pc:docMk/>
            <pc:sldMk cId="1385107634" sldId="330"/>
            <ac:spMk id="3" creationId="{FBE7014E-AD85-5577-6967-B7F2857DE288}"/>
          </ac:spMkLst>
        </pc:spChg>
      </pc:sldChg>
      <pc:sldChg chg="addSp delSp modSp add mod">
        <pc:chgData name="ESHITA Jha" userId="a4d3ff19029c32e1" providerId="LiveId" clId="{47BDF309-A048-4EB1-889F-786B0F476719}" dt="2025-09-14T06:55:29.043" v="35" actId="1076"/>
        <pc:sldMkLst>
          <pc:docMk/>
          <pc:sldMk cId="1982358220" sldId="332"/>
        </pc:sldMkLst>
        <pc:spChg chg="mod">
          <ac:chgData name="ESHITA Jha" userId="a4d3ff19029c32e1" providerId="LiveId" clId="{47BDF309-A048-4EB1-889F-786B0F476719}" dt="2025-09-14T06:54:41.605" v="27" actId="14100"/>
          <ac:spMkLst>
            <pc:docMk/>
            <pc:sldMk cId="1982358220" sldId="332"/>
            <ac:spMk id="3" creationId="{D637F3FB-B18F-5043-E836-921560547FF8}"/>
          </ac:spMkLst>
        </pc:spChg>
        <pc:spChg chg="mod">
          <ac:chgData name="ESHITA Jha" userId="a4d3ff19029c32e1" providerId="LiveId" clId="{47BDF309-A048-4EB1-889F-786B0F476719}" dt="2025-09-14T06:53:48.621" v="20" actId="14100"/>
          <ac:spMkLst>
            <pc:docMk/>
            <pc:sldMk cId="1982358220" sldId="332"/>
            <ac:spMk id="5" creationId="{FB2A21A3-22A0-5A78-5488-206AF27F9A47}"/>
          </ac:spMkLst>
        </pc:spChg>
        <pc:picChg chg="add mod">
          <ac:chgData name="ESHITA Jha" userId="a4d3ff19029c32e1" providerId="LiveId" clId="{47BDF309-A048-4EB1-889F-786B0F476719}" dt="2025-09-14T06:55:29.043" v="35" actId="1076"/>
          <ac:picMkLst>
            <pc:docMk/>
            <pc:sldMk cId="1982358220" sldId="332"/>
            <ac:picMk id="2" creationId="{5D444107-9718-84F9-8F60-60245A4E5C9E}"/>
          </ac:picMkLst>
        </pc:picChg>
      </pc:sldChg>
      <pc:sldChg chg="addSp modSp add mod">
        <pc:chgData name="ESHITA Jha" userId="a4d3ff19029c32e1" providerId="LiveId" clId="{47BDF309-A048-4EB1-889F-786B0F476719}" dt="2025-09-14T07:05:43.381" v="116" actId="1076"/>
        <pc:sldMkLst>
          <pc:docMk/>
          <pc:sldMk cId="17726388" sldId="333"/>
        </pc:sldMkLst>
        <pc:spChg chg="mod">
          <ac:chgData name="ESHITA Jha" userId="a4d3ff19029c32e1" providerId="LiveId" clId="{47BDF309-A048-4EB1-889F-786B0F476719}" dt="2025-09-14T07:03:29.479" v="93" actId="403"/>
          <ac:spMkLst>
            <pc:docMk/>
            <pc:sldMk cId="17726388" sldId="333"/>
            <ac:spMk id="3" creationId="{D1AE58A8-F02D-8752-1DED-4D468732B768}"/>
          </ac:spMkLst>
        </pc:spChg>
        <pc:spChg chg="add mod">
          <ac:chgData name="ESHITA Jha" userId="a4d3ff19029c32e1" providerId="LiveId" clId="{47BDF309-A048-4EB1-889F-786B0F476719}" dt="2025-09-14T07:05:43.381" v="116" actId="1076"/>
          <ac:spMkLst>
            <pc:docMk/>
            <pc:sldMk cId="17726388" sldId="333"/>
            <ac:spMk id="4" creationId="{5D3EF44B-2E29-0E0E-2BDB-9B06399E7A6D}"/>
          </ac:spMkLst>
        </pc:spChg>
        <pc:spChg chg="mod">
          <ac:chgData name="ESHITA Jha" userId="a4d3ff19029c32e1" providerId="LiveId" clId="{47BDF309-A048-4EB1-889F-786B0F476719}" dt="2025-09-14T07:03:17.650" v="89" actId="1076"/>
          <ac:spMkLst>
            <pc:docMk/>
            <pc:sldMk cId="17726388" sldId="333"/>
            <ac:spMk id="5" creationId="{C94986D0-54B3-668F-62B3-95F548967AFD}"/>
          </ac:spMkLst>
        </pc:spChg>
      </pc:sldChg>
      <pc:sldChg chg="modSp add mod ord">
        <pc:chgData name="ESHITA Jha" userId="a4d3ff19029c32e1" providerId="LiveId" clId="{47BDF309-A048-4EB1-889F-786B0F476719}" dt="2025-10-13T11:50:46.292" v="242" actId="20577"/>
        <pc:sldMkLst>
          <pc:docMk/>
          <pc:sldMk cId="998519197" sldId="334"/>
        </pc:sldMkLst>
        <pc:spChg chg="mod">
          <ac:chgData name="ESHITA Jha" userId="a4d3ff19029c32e1" providerId="LiveId" clId="{47BDF309-A048-4EB1-889F-786B0F476719}" dt="2025-10-13T11:40:43.245" v="138" actId="14100"/>
          <ac:spMkLst>
            <pc:docMk/>
            <pc:sldMk cId="998519197" sldId="334"/>
            <ac:spMk id="3" creationId="{5F1A45CA-E498-6256-3060-458175F0C3F3}"/>
          </ac:spMkLst>
        </pc:spChg>
        <pc:spChg chg="mod">
          <ac:chgData name="ESHITA Jha" userId="a4d3ff19029c32e1" providerId="LiveId" clId="{47BDF309-A048-4EB1-889F-786B0F476719}" dt="2025-10-13T11:50:46.292" v="242" actId="20577"/>
          <ac:spMkLst>
            <pc:docMk/>
            <pc:sldMk cId="998519197" sldId="334"/>
            <ac:spMk id="6" creationId="{A632DB7F-58A8-72A4-911F-EE7667E4A61F}"/>
          </ac:spMkLst>
        </pc:spChg>
      </pc:sldChg>
      <pc:sldChg chg="addSp delSp modSp add mod">
        <pc:chgData name="ESHITA Jha" userId="a4d3ff19029c32e1" providerId="LiveId" clId="{47BDF309-A048-4EB1-889F-786B0F476719}" dt="2025-10-13T11:58:25.364" v="311" actId="1076"/>
        <pc:sldMkLst>
          <pc:docMk/>
          <pc:sldMk cId="3523097252" sldId="335"/>
        </pc:sldMkLst>
        <pc:spChg chg="add del">
          <ac:chgData name="ESHITA Jha" userId="a4d3ff19029c32e1" providerId="LiveId" clId="{47BDF309-A048-4EB1-889F-786B0F476719}" dt="2025-10-13T11:51:25.967" v="244" actId="478"/>
          <ac:spMkLst>
            <pc:docMk/>
            <pc:sldMk cId="3523097252" sldId="335"/>
            <ac:spMk id="4" creationId="{FE70CFFE-7896-9599-97B9-10A4C89886E0}"/>
          </ac:spMkLst>
        </pc:spChg>
        <pc:spChg chg="del">
          <ac:chgData name="ESHITA Jha" userId="a4d3ff19029c32e1" providerId="LiveId" clId="{47BDF309-A048-4EB1-889F-786B0F476719}" dt="2025-10-13T11:57:42.284" v="295" actId="478"/>
          <ac:spMkLst>
            <pc:docMk/>
            <pc:sldMk cId="3523097252" sldId="335"/>
            <ac:spMk id="6" creationId="{B365E45E-F86D-541C-1F57-17AA25429A3F}"/>
          </ac:spMkLst>
        </pc:spChg>
        <pc:spChg chg="add mod">
          <ac:chgData name="ESHITA Jha" userId="a4d3ff19029c32e1" providerId="LiveId" clId="{47BDF309-A048-4EB1-889F-786B0F476719}" dt="2025-10-13T11:58:25.364" v="311" actId="1076"/>
          <ac:spMkLst>
            <pc:docMk/>
            <pc:sldMk cId="3523097252" sldId="335"/>
            <ac:spMk id="8" creationId="{B37D5F0D-3212-92AE-D8FE-947F5A02094D}"/>
          </ac:spMkLst>
        </pc:spChg>
        <pc:graphicFrameChg chg="add mod modGraphic">
          <ac:chgData name="ESHITA Jha" userId="a4d3ff19029c32e1" providerId="LiveId" clId="{47BDF309-A048-4EB1-889F-786B0F476719}" dt="2025-10-13T11:56:50.655" v="294" actId="12385"/>
          <ac:graphicFrameMkLst>
            <pc:docMk/>
            <pc:sldMk cId="3523097252" sldId="335"/>
            <ac:graphicFrameMk id="7" creationId="{9680AB3C-226B-BB8E-C6B7-FD57B4F13135}"/>
          </ac:graphicFrameMkLst>
        </pc:graphicFrameChg>
      </pc:sldChg>
      <pc:sldChg chg="addSp delSp modSp add mod">
        <pc:chgData name="ESHITA Jha" userId="a4d3ff19029c32e1" providerId="LiveId" clId="{47BDF309-A048-4EB1-889F-786B0F476719}" dt="2025-10-13T11:50:29.037" v="241" actId="120"/>
        <pc:sldMkLst>
          <pc:docMk/>
          <pc:sldMk cId="164280353" sldId="336"/>
        </pc:sldMkLst>
        <pc:spChg chg="add mod">
          <ac:chgData name="ESHITA Jha" userId="a4d3ff19029c32e1" providerId="LiveId" clId="{47BDF309-A048-4EB1-889F-786B0F476719}" dt="2025-10-13T11:49:50.631" v="233" actId="1076"/>
          <ac:spMkLst>
            <pc:docMk/>
            <pc:sldMk cId="164280353" sldId="336"/>
            <ac:spMk id="2" creationId="{BC7B45D2-8611-5BCB-34DB-07B6AE1C56E2}"/>
          </ac:spMkLst>
        </pc:spChg>
        <pc:spChg chg="add del mod">
          <ac:chgData name="ESHITA Jha" userId="a4d3ff19029c32e1" providerId="LiveId" clId="{47BDF309-A048-4EB1-889F-786B0F476719}" dt="2025-10-13T11:42:42.319" v="154"/>
          <ac:spMkLst>
            <pc:docMk/>
            <pc:sldMk cId="164280353" sldId="336"/>
            <ac:spMk id="4" creationId="{1873C39D-068B-275B-BECE-608CD105717A}"/>
          </ac:spMkLst>
        </pc:spChg>
        <pc:spChg chg="del">
          <ac:chgData name="ESHITA Jha" userId="a4d3ff19029c32e1" providerId="LiveId" clId="{47BDF309-A048-4EB1-889F-786B0F476719}" dt="2025-10-13T11:41:18.364" v="142" actId="478"/>
          <ac:spMkLst>
            <pc:docMk/>
            <pc:sldMk cId="164280353" sldId="336"/>
            <ac:spMk id="6" creationId="{786453C0-4A32-2DBB-296D-D152AB344441}"/>
          </ac:spMkLst>
        </pc:spChg>
        <pc:spChg chg="add mod">
          <ac:chgData name="ESHITA Jha" userId="a4d3ff19029c32e1" providerId="LiveId" clId="{47BDF309-A048-4EB1-889F-786B0F476719}" dt="2025-10-13T11:50:29.037" v="241" actId="120"/>
          <ac:spMkLst>
            <pc:docMk/>
            <pc:sldMk cId="164280353" sldId="336"/>
            <ac:spMk id="8" creationId="{FB1BC7E2-584F-DFC3-8D21-034589BDADD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6428D1-2A66-4E3F-82DC-E14BF9688049}"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77BCE6-771D-41A1-B1FD-2F6CE9097517}" type="slidenum">
              <a:rPr lang="en-IN" smtClean="0"/>
              <a:t>‹#›</a:t>
            </a:fld>
            <a:endParaRPr lang="en-IN"/>
          </a:p>
        </p:txBody>
      </p:sp>
    </p:spTree>
    <p:extLst>
      <p:ext uri="{BB962C8B-B14F-4D97-AF65-F5344CB8AC3E}">
        <p14:creationId xmlns:p14="http://schemas.microsoft.com/office/powerpoint/2010/main" val="3653708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377BCE6-771D-41A1-B1FD-2F6CE9097517}" type="slidenum">
              <a:rPr lang="en-IN" smtClean="0"/>
              <a:t>4</a:t>
            </a:fld>
            <a:endParaRPr lang="en-IN"/>
          </a:p>
        </p:txBody>
      </p:sp>
    </p:spTree>
    <p:extLst>
      <p:ext uri="{BB962C8B-B14F-4D97-AF65-F5344CB8AC3E}">
        <p14:creationId xmlns:p14="http://schemas.microsoft.com/office/powerpoint/2010/main" val="2283031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377BCE6-771D-41A1-B1FD-2F6CE9097517}" type="slidenum">
              <a:rPr lang="en-IN" smtClean="0"/>
              <a:t>5</a:t>
            </a:fld>
            <a:endParaRPr lang="en-IN"/>
          </a:p>
        </p:txBody>
      </p:sp>
    </p:spTree>
    <p:extLst>
      <p:ext uri="{BB962C8B-B14F-4D97-AF65-F5344CB8AC3E}">
        <p14:creationId xmlns:p14="http://schemas.microsoft.com/office/powerpoint/2010/main" val="17416023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377BCE6-771D-41A1-B1FD-2F6CE9097517}" type="slidenum">
              <a:rPr lang="en-IN" smtClean="0"/>
              <a:t>17</a:t>
            </a:fld>
            <a:endParaRPr lang="en-IN"/>
          </a:p>
        </p:txBody>
      </p:sp>
    </p:spTree>
    <p:extLst>
      <p:ext uri="{BB962C8B-B14F-4D97-AF65-F5344CB8AC3E}">
        <p14:creationId xmlns:p14="http://schemas.microsoft.com/office/powerpoint/2010/main" val="26660057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8C53E-29B9-49A1-A7BA-17E19607A0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EC6312A-B40C-4351-88B1-E9B16AE384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663DC18-C9D0-4F87-A4E7-01216290B788}"/>
              </a:ext>
            </a:extLst>
          </p:cNvPr>
          <p:cNvSpPr>
            <a:spLocks noGrp="1"/>
          </p:cNvSpPr>
          <p:nvPr>
            <p:ph type="dt" sz="half" idx="10"/>
          </p:nvPr>
        </p:nvSpPr>
        <p:spPr/>
        <p:txBody>
          <a:bodyPr/>
          <a:lstStyle/>
          <a:p>
            <a:fld id="{03843843-8351-4CD6-9C2F-6C5AB1372358}" type="datetimeFigureOut">
              <a:rPr lang="en-US" smtClean="0"/>
              <a:t>9/8/2026</a:t>
            </a:fld>
            <a:endParaRPr lang="en-US"/>
          </a:p>
        </p:txBody>
      </p:sp>
      <p:sp>
        <p:nvSpPr>
          <p:cNvPr id="5" name="Footer Placeholder 4">
            <a:extLst>
              <a:ext uri="{FF2B5EF4-FFF2-40B4-BE49-F238E27FC236}">
                <a16:creationId xmlns:a16="http://schemas.microsoft.com/office/drawing/2014/main" id="{03EE559F-192A-47D7-BAE7-12B50ECA15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5731D3-5256-4E28-964F-E9D30DCA65BE}"/>
              </a:ext>
            </a:extLst>
          </p:cNvPr>
          <p:cNvSpPr>
            <a:spLocks noGrp="1"/>
          </p:cNvSpPr>
          <p:nvPr>
            <p:ph type="sldNum" sz="quarter" idx="12"/>
          </p:nvPr>
        </p:nvSpPr>
        <p:spPr/>
        <p:txBody>
          <a:bodyPr/>
          <a:lstStyle/>
          <a:p>
            <a:fld id="{3712C4E4-5571-4A20-B810-C28D175D3E81}" type="slidenum">
              <a:rPr lang="en-US" smtClean="0"/>
              <a:t>‹#›</a:t>
            </a:fld>
            <a:endParaRPr lang="en-US"/>
          </a:p>
        </p:txBody>
      </p:sp>
    </p:spTree>
    <p:extLst>
      <p:ext uri="{BB962C8B-B14F-4D97-AF65-F5344CB8AC3E}">
        <p14:creationId xmlns:p14="http://schemas.microsoft.com/office/powerpoint/2010/main" val="452809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19CC0-5DFF-422F-A203-BC51B9A8E8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222834-744F-4B4E-AF70-80E13E7FFC4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1C4795-6B04-4244-B434-A9B7C94EB36E}"/>
              </a:ext>
            </a:extLst>
          </p:cNvPr>
          <p:cNvSpPr>
            <a:spLocks noGrp="1"/>
          </p:cNvSpPr>
          <p:nvPr>
            <p:ph type="dt" sz="half" idx="10"/>
          </p:nvPr>
        </p:nvSpPr>
        <p:spPr/>
        <p:txBody>
          <a:bodyPr/>
          <a:lstStyle/>
          <a:p>
            <a:fld id="{03843843-8351-4CD6-9C2F-6C5AB1372358}" type="datetimeFigureOut">
              <a:rPr lang="en-US" smtClean="0"/>
              <a:t>9/8/2026</a:t>
            </a:fld>
            <a:endParaRPr lang="en-US"/>
          </a:p>
        </p:txBody>
      </p:sp>
      <p:sp>
        <p:nvSpPr>
          <p:cNvPr id="5" name="Footer Placeholder 4">
            <a:extLst>
              <a:ext uri="{FF2B5EF4-FFF2-40B4-BE49-F238E27FC236}">
                <a16:creationId xmlns:a16="http://schemas.microsoft.com/office/drawing/2014/main" id="{65150B21-594D-4DEB-B8C4-89CE64D696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57B035-4491-42EC-9BAD-DB9524D1CDC0}"/>
              </a:ext>
            </a:extLst>
          </p:cNvPr>
          <p:cNvSpPr>
            <a:spLocks noGrp="1"/>
          </p:cNvSpPr>
          <p:nvPr>
            <p:ph type="sldNum" sz="quarter" idx="12"/>
          </p:nvPr>
        </p:nvSpPr>
        <p:spPr/>
        <p:txBody>
          <a:bodyPr/>
          <a:lstStyle/>
          <a:p>
            <a:fld id="{3712C4E4-5571-4A20-B810-C28D175D3E81}" type="slidenum">
              <a:rPr lang="en-US" smtClean="0"/>
              <a:t>‹#›</a:t>
            </a:fld>
            <a:endParaRPr lang="en-US"/>
          </a:p>
        </p:txBody>
      </p:sp>
    </p:spTree>
    <p:extLst>
      <p:ext uri="{BB962C8B-B14F-4D97-AF65-F5344CB8AC3E}">
        <p14:creationId xmlns:p14="http://schemas.microsoft.com/office/powerpoint/2010/main" val="4272211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A3A7F-00B3-4C74-A9E3-8472AC418A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08F4F34-187B-4101-8A51-90247BE2CC8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E85A984-A24A-45C1-8E01-09768D5F6B5E}"/>
              </a:ext>
            </a:extLst>
          </p:cNvPr>
          <p:cNvSpPr>
            <a:spLocks noGrp="1"/>
          </p:cNvSpPr>
          <p:nvPr>
            <p:ph type="dt" sz="half" idx="10"/>
          </p:nvPr>
        </p:nvSpPr>
        <p:spPr/>
        <p:txBody>
          <a:bodyPr/>
          <a:lstStyle/>
          <a:p>
            <a:fld id="{03843843-8351-4CD6-9C2F-6C5AB1372358}" type="datetimeFigureOut">
              <a:rPr lang="en-US" smtClean="0"/>
              <a:t>9/8/2026</a:t>
            </a:fld>
            <a:endParaRPr lang="en-US"/>
          </a:p>
        </p:txBody>
      </p:sp>
      <p:sp>
        <p:nvSpPr>
          <p:cNvPr id="5" name="Footer Placeholder 4">
            <a:extLst>
              <a:ext uri="{FF2B5EF4-FFF2-40B4-BE49-F238E27FC236}">
                <a16:creationId xmlns:a16="http://schemas.microsoft.com/office/drawing/2014/main" id="{39031CDA-D9B1-425A-88DC-FFD87DAA9C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F78384-B65A-4F84-8E0E-79B825DC7462}"/>
              </a:ext>
            </a:extLst>
          </p:cNvPr>
          <p:cNvSpPr>
            <a:spLocks noGrp="1"/>
          </p:cNvSpPr>
          <p:nvPr>
            <p:ph type="sldNum" sz="quarter" idx="12"/>
          </p:nvPr>
        </p:nvSpPr>
        <p:spPr/>
        <p:txBody>
          <a:bodyPr/>
          <a:lstStyle/>
          <a:p>
            <a:fld id="{3712C4E4-5571-4A20-B810-C28D175D3E81}" type="slidenum">
              <a:rPr lang="en-US" smtClean="0"/>
              <a:t>‹#›</a:t>
            </a:fld>
            <a:endParaRPr lang="en-US"/>
          </a:p>
        </p:txBody>
      </p:sp>
    </p:spTree>
    <p:extLst>
      <p:ext uri="{BB962C8B-B14F-4D97-AF65-F5344CB8AC3E}">
        <p14:creationId xmlns:p14="http://schemas.microsoft.com/office/powerpoint/2010/main" val="2410391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1ECA5-EAE2-4495-82B2-A7C405EA1C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5A14E4-0C3F-4E4D-8DEA-DAA5E19FD99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646F3C1-CB15-40AD-A9F4-6ADE38D73AB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BDC4BBB-DBFB-45B8-A269-A0D22BD5EA8E}"/>
              </a:ext>
            </a:extLst>
          </p:cNvPr>
          <p:cNvSpPr>
            <a:spLocks noGrp="1"/>
          </p:cNvSpPr>
          <p:nvPr>
            <p:ph type="dt" sz="half" idx="10"/>
          </p:nvPr>
        </p:nvSpPr>
        <p:spPr/>
        <p:txBody>
          <a:bodyPr/>
          <a:lstStyle/>
          <a:p>
            <a:fld id="{03843843-8351-4CD6-9C2F-6C5AB1372358}" type="datetimeFigureOut">
              <a:rPr lang="en-US" smtClean="0"/>
              <a:t>9/8/2026</a:t>
            </a:fld>
            <a:endParaRPr lang="en-US"/>
          </a:p>
        </p:txBody>
      </p:sp>
      <p:sp>
        <p:nvSpPr>
          <p:cNvPr id="6" name="Footer Placeholder 5">
            <a:extLst>
              <a:ext uri="{FF2B5EF4-FFF2-40B4-BE49-F238E27FC236}">
                <a16:creationId xmlns:a16="http://schemas.microsoft.com/office/drawing/2014/main" id="{DB9DCC4B-0768-49F4-A0F2-BB363FCBEF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C3AAC0-00AD-4AF3-87CD-7DC9B389C4DC}"/>
              </a:ext>
            </a:extLst>
          </p:cNvPr>
          <p:cNvSpPr>
            <a:spLocks noGrp="1"/>
          </p:cNvSpPr>
          <p:nvPr>
            <p:ph type="sldNum" sz="quarter" idx="12"/>
          </p:nvPr>
        </p:nvSpPr>
        <p:spPr/>
        <p:txBody>
          <a:bodyPr/>
          <a:lstStyle/>
          <a:p>
            <a:fld id="{3712C4E4-5571-4A20-B810-C28D175D3E81}" type="slidenum">
              <a:rPr lang="en-US" smtClean="0"/>
              <a:t>‹#›</a:t>
            </a:fld>
            <a:endParaRPr lang="en-US"/>
          </a:p>
        </p:txBody>
      </p:sp>
    </p:spTree>
    <p:extLst>
      <p:ext uri="{BB962C8B-B14F-4D97-AF65-F5344CB8AC3E}">
        <p14:creationId xmlns:p14="http://schemas.microsoft.com/office/powerpoint/2010/main" val="509346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82B44-D665-439E-8ADF-AA2CD5C2EAD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19BED8F-4B19-4598-9B5F-A976F7446A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29AA1B7-26C2-41B3-9951-CDA1B08FF08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D39B2DE-C222-4E9E-9B7B-DC1043F2E5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CF5F7CA-61FF-4874-9851-595B8831B5B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82C3C1-5E91-4C05-B7EF-14494E4C2721}"/>
              </a:ext>
            </a:extLst>
          </p:cNvPr>
          <p:cNvSpPr>
            <a:spLocks noGrp="1"/>
          </p:cNvSpPr>
          <p:nvPr>
            <p:ph type="dt" sz="half" idx="10"/>
          </p:nvPr>
        </p:nvSpPr>
        <p:spPr/>
        <p:txBody>
          <a:bodyPr/>
          <a:lstStyle/>
          <a:p>
            <a:fld id="{03843843-8351-4CD6-9C2F-6C5AB1372358}" type="datetimeFigureOut">
              <a:rPr lang="en-US" smtClean="0"/>
              <a:t>9/8/2026</a:t>
            </a:fld>
            <a:endParaRPr lang="en-US"/>
          </a:p>
        </p:txBody>
      </p:sp>
      <p:sp>
        <p:nvSpPr>
          <p:cNvPr id="8" name="Footer Placeholder 7">
            <a:extLst>
              <a:ext uri="{FF2B5EF4-FFF2-40B4-BE49-F238E27FC236}">
                <a16:creationId xmlns:a16="http://schemas.microsoft.com/office/drawing/2014/main" id="{C24B7345-2C3F-41F9-A029-379A86DDAF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C86599-2E9A-456D-941F-792E55C4B77F}"/>
              </a:ext>
            </a:extLst>
          </p:cNvPr>
          <p:cNvSpPr>
            <a:spLocks noGrp="1"/>
          </p:cNvSpPr>
          <p:nvPr>
            <p:ph type="sldNum" sz="quarter" idx="12"/>
          </p:nvPr>
        </p:nvSpPr>
        <p:spPr/>
        <p:txBody>
          <a:bodyPr/>
          <a:lstStyle/>
          <a:p>
            <a:fld id="{3712C4E4-5571-4A20-B810-C28D175D3E81}" type="slidenum">
              <a:rPr lang="en-US" smtClean="0"/>
              <a:t>‹#›</a:t>
            </a:fld>
            <a:endParaRPr lang="en-US"/>
          </a:p>
        </p:txBody>
      </p:sp>
    </p:spTree>
    <p:extLst>
      <p:ext uri="{BB962C8B-B14F-4D97-AF65-F5344CB8AC3E}">
        <p14:creationId xmlns:p14="http://schemas.microsoft.com/office/powerpoint/2010/main" val="950279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C45CD-2C6D-4BED-8CB2-F4D3B2B75AE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E1C69A7-ACB4-46DC-8A56-5E9679834CB8}"/>
              </a:ext>
            </a:extLst>
          </p:cNvPr>
          <p:cNvSpPr>
            <a:spLocks noGrp="1"/>
          </p:cNvSpPr>
          <p:nvPr>
            <p:ph type="dt" sz="half" idx="10"/>
          </p:nvPr>
        </p:nvSpPr>
        <p:spPr/>
        <p:txBody>
          <a:bodyPr/>
          <a:lstStyle/>
          <a:p>
            <a:fld id="{03843843-8351-4CD6-9C2F-6C5AB1372358}" type="datetimeFigureOut">
              <a:rPr lang="en-US" smtClean="0"/>
              <a:t>9/8/2026</a:t>
            </a:fld>
            <a:endParaRPr lang="en-US"/>
          </a:p>
        </p:txBody>
      </p:sp>
      <p:sp>
        <p:nvSpPr>
          <p:cNvPr id="4" name="Footer Placeholder 3">
            <a:extLst>
              <a:ext uri="{FF2B5EF4-FFF2-40B4-BE49-F238E27FC236}">
                <a16:creationId xmlns:a16="http://schemas.microsoft.com/office/drawing/2014/main" id="{E3CBA949-32DB-40E5-B58D-D0ABD1B0D2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F2276A7-693D-4BEE-9610-201BB451EE59}"/>
              </a:ext>
            </a:extLst>
          </p:cNvPr>
          <p:cNvSpPr>
            <a:spLocks noGrp="1"/>
          </p:cNvSpPr>
          <p:nvPr>
            <p:ph type="sldNum" sz="quarter" idx="12"/>
          </p:nvPr>
        </p:nvSpPr>
        <p:spPr/>
        <p:txBody>
          <a:bodyPr/>
          <a:lstStyle/>
          <a:p>
            <a:fld id="{3712C4E4-5571-4A20-B810-C28D175D3E81}" type="slidenum">
              <a:rPr lang="en-US" smtClean="0"/>
              <a:t>‹#›</a:t>
            </a:fld>
            <a:endParaRPr lang="en-US"/>
          </a:p>
        </p:txBody>
      </p:sp>
    </p:spTree>
    <p:extLst>
      <p:ext uri="{BB962C8B-B14F-4D97-AF65-F5344CB8AC3E}">
        <p14:creationId xmlns:p14="http://schemas.microsoft.com/office/powerpoint/2010/main" val="2996507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2ECAFB-2E91-4581-B9C3-401360B7D814}"/>
              </a:ext>
            </a:extLst>
          </p:cNvPr>
          <p:cNvSpPr>
            <a:spLocks noGrp="1"/>
          </p:cNvSpPr>
          <p:nvPr>
            <p:ph type="dt" sz="half" idx="10"/>
          </p:nvPr>
        </p:nvSpPr>
        <p:spPr/>
        <p:txBody>
          <a:bodyPr/>
          <a:lstStyle/>
          <a:p>
            <a:fld id="{03843843-8351-4CD6-9C2F-6C5AB1372358}" type="datetimeFigureOut">
              <a:rPr lang="en-US" smtClean="0"/>
              <a:t>9/8/2026</a:t>
            </a:fld>
            <a:endParaRPr lang="en-US"/>
          </a:p>
        </p:txBody>
      </p:sp>
      <p:sp>
        <p:nvSpPr>
          <p:cNvPr id="3" name="Footer Placeholder 2">
            <a:extLst>
              <a:ext uri="{FF2B5EF4-FFF2-40B4-BE49-F238E27FC236}">
                <a16:creationId xmlns:a16="http://schemas.microsoft.com/office/drawing/2014/main" id="{7D953FD7-F3D8-4D17-9A5E-4DE63480989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2A7F22-6043-4780-BFA3-9EB28A0579AE}"/>
              </a:ext>
            </a:extLst>
          </p:cNvPr>
          <p:cNvSpPr>
            <a:spLocks noGrp="1"/>
          </p:cNvSpPr>
          <p:nvPr>
            <p:ph type="sldNum" sz="quarter" idx="12"/>
          </p:nvPr>
        </p:nvSpPr>
        <p:spPr/>
        <p:txBody>
          <a:bodyPr/>
          <a:lstStyle/>
          <a:p>
            <a:fld id="{3712C4E4-5571-4A20-B810-C28D175D3E81}" type="slidenum">
              <a:rPr lang="en-US" smtClean="0"/>
              <a:t>‹#›</a:t>
            </a:fld>
            <a:endParaRPr lang="en-US"/>
          </a:p>
        </p:txBody>
      </p:sp>
    </p:spTree>
    <p:extLst>
      <p:ext uri="{BB962C8B-B14F-4D97-AF65-F5344CB8AC3E}">
        <p14:creationId xmlns:p14="http://schemas.microsoft.com/office/powerpoint/2010/main" val="2078110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F0C4E-1B0D-4A71-9600-9B447FE8AF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CABA52C-0F3B-442E-84E2-EDD3F6D963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FDA2854-1819-4478-B59E-F9284F2248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5B0FF05-71BA-4CB8-BE5F-EAF3BE00F500}"/>
              </a:ext>
            </a:extLst>
          </p:cNvPr>
          <p:cNvSpPr>
            <a:spLocks noGrp="1"/>
          </p:cNvSpPr>
          <p:nvPr>
            <p:ph type="dt" sz="half" idx="10"/>
          </p:nvPr>
        </p:nvSpPr>
        <p:spPr/>
        <p:txBody>
          <a:bodyPr/>
          <a:lstStyle/>
          <a:p>
            <a:fld id="{03843843-8351-4CD6-9C2F-6C5AB1372358}" type="datetimeFigureOut">
              <a:rPr lang="en-US" smtClean="0"/>
              <a:t>9/8/2026</a:t>
            </a:fld>
            <a:endParaRPr lang="en-US"/>
          </a:p>
        </p:txBody>
      </p:sp>
      <p:sp>
        <p:nvSpPr>
          <p:cNvPr id="6" name="Footer Placeholder 5">
            <a:extLst>
              <a:ext uri="{FF2B5EF4-FFF2-40B4-BE49-F238E27FC236}">
                <a16:creationId xmlns:a16="http://schemas.microsoft.com/office/drawing/2014/main" id="{60D522F7-C581-4BA0-A1FD-B7A0AC7D19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A2DBDA-5DB4-4E40-B706-869AEB46C381}"/>
              </a:ext>
            </a:extLst>
          </p:cNvPr>
          <p:cNvSpPr>
            <a:spLocks noGrp="1"/>
          </p:cNvSpPr>
          <p:nvPr>
            <p:ph type="sldNum" sz="quarter" idx="12"/>
          </p:nvPr>
        </p:nvSpPr>
        <p:spPr/>
        <p:txBody>
          <a:bodyPr/>
          <a:lstStyle/>
          <a:p>
            <a:fld id="{3712C4E4-5571-4A20-B810-C28D175D3E81}" type="slidenum">
              <a:rPr lang="en-US" smtClean="0"/>
              <a:t>‹#›</a:t>
            </a:fld>
            <a:endParaRPr lang="en-US"/>
          </a:p>
        </p:txBody>
      </p:sp>
    </p:spTree>
    <p:extLst>
      <p:ext uri="{BB962C8B-B14F-4D97-AF65-F5344CB8AC3E}">
        <p14:creationId xmlns:p14="http://schemas.microsoft.com/office/powerpoint/2010/main" val="927191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52F21-4F03-4A58-8371-7DE4893657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7D41113-BB5A-4098-87CE-37169677E9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437BD16-5CED-4FF7-93BF-CBAEABEF7F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E4C9BDE-0744-4064-A7BB-B934BBA6C405}"/>
              </a:ext>
            </a:extLst>
          </p:cNvPr>
          <p:cNvSpPr>
            <a:spLocks noGrp="1"/>
          </p:cNvSpPr>
          <p:nvPr>
            <p:ph type="dt" sz="half" idx="10"/>
          </p:nvPr>
        </p:nvSpPr>
        <p:spPr/>
        <p:txBody>
          <a:bodyPr/>
          <a:lstStyle/>
          <a:p>
            <a:fld id="{03843843-8351-4CD6-9C2F-6C5AB1372358}" type="datetimeFigureOut">
              <a:rPr lang="en-US" smtClean="0"/>
              <a:t>9/8/2026</a:t>
            </a:fld>
            <a:endParaRPr lang="en-US"/>
          </a:p>
        </p:txBody>
      </p:sp>
      <p:sp>
        <p:nvSpPr>
          <p:cNvPr id="6" name="Footer Placeholder 5">
            <a:extLst>
              <a:ext uri="{FF2B5EF4-FFF2-40B4-BE49-F238E27FC236}">
                <a16:creationId xmlns:a16="http://schemas.microsoft.com/office/drawing/2014/main" id="{56B411A6-DA1F-44F1-A0B3-2E3C917593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E2CB33-8C86-499E-938C-83BC56DFDF4C}"/>
              </a:ext>
            </a:extLst>
          </p:cNvPr>
          <p:cNvSpPr>
            <a:spLocks noGrp="1"/>
          </p:cNvSpPr>
          <p:nvPr>
            <p:ph type="sldNum" sz="quarter" idx="12"/>
          </p:nvPr>
        </p:nvSpPr>
        <p:spPr/>
        <p:txBody>
          <a:bodyPr/>
          <a:lstStyle/>
          <a:p>
            <a:fld id="{3712C4E4-5571-4A20-B810-C28D175D3E81}" type="slidenum">
              <a:rPr lang="en-US" smtClean="0"/>
              <a:t>‹#›</a:t>
            </a:fld>
            <a:endParaRPr lang="en-US"/>
          </a:p>
        </p:txBody>
      </p:sp>
    </p:spTree>
    <p:extLst>
      <p:ext uri="{BB962C8B-B14F-4D97-AF65-F5344CB8AC3E}">
        <p14:creationId xmlns:p14="http://schemas.microsoft.com/office/powerpoint/2010/main" val="1509378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BDFF5-DA39-40DF-A0B3-1B5D376B665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E900011-DCDB-4E9A-9311-F32DECBAB85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0DC4D9-44AE-413D-B633-ED76040A9209}"/>
              </a:ext>
            </a:extLst>
          </p:cNvPr>
          <p:cNvSpPr>
            <a:spLocks noGrp="1"/>
          </p:cNvSpPr>
          <p:nvPr>
            <p:ph type="dt" sz="half" idx="10"/>
          </p:nvPr>
        </p:nvSpPr>
        <p:spPr/>
        <p:txBody>
          <a:bodyPr/>
          <a:lstStyle/>
          <a:p>
            <a:fld id="{03843843-8351-4CD6-9C2F-6C5AB1372358}" type="datetimeFigureOut">
              <a:rPr lang="en-US" smtClean="0"/>
              <a:t>9/8/2026</a:t>
            </a:fld>
            <a:endParaRPr lang="en-US"/>
          </a:p>
        </p:txBody>
      </p:sp>
      <p:sp>
        <p:nvSpPr>
          <p:cNvPr id="5" name="Footer Placeholder 4">
            <a:extLst>
              <a:ext uri="{FF2B5EF4-FFF2-40B4-BE49-F238E27FC236}">
                <a16:creationId xmlns:a16="http://schemas.microsoft.com/office/drawing/2014/main" id="{353D5FE5-2EA1-4961-A3CC-D1600C2EA3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804A42-8273-4C48-9D32-58A54DFDA073}"/>
              </a:ext>
            </a:extLst>
          </p:cNvPr>
          <p:cNvSpPr>
            <a:spLocks noGrp="1"/>
          </p:cNvSpPr>
          <p:nvPr>
            <p:ph type="sldNum" sz="quarter" idx="12"/>
          </p:nvPr>
        </p:nvSpPr>
        <p:spPr/>
        <p:txBody>
          <a:bodyPr/>
          <a:lstStyle/>
          <a:p>
            <a:fld id="{3712C4E4-5571-4A20-B810-C28D175D3E81}" type="slidenum">
              <a:rPr lang="en-US" smtClean="0"/>
              <a:t>‹#›</a:t>
            </a:fld>
            <a:endParaRPr lang="en-US"/>
          </a:p>
        </p:txBody>
      </p:sp>
    </p:spTree>
    <p:extLst>
      <p:ext uri="{BB962C8B-B14F-4D97-AF65-F5344CB8AC3E}">
        <p14:creationId xmlns:p14="http://schemas.microsoft.com/office/powerpoint/2010/main" val="37975001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5730B8-EEB6-4593-9FE4-BD4E81AA9B7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300F687-EA15-4470-8673-CFACA608300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8C67B2-775F-4864-A58C-9EABFE1A6FBA}"/>
              </a:ext>
            </a:extLst>
          </p:cNvPr>
          <p:cNvSpPr>
            <a:spLocks noGrp="1"/>
          </p:cNvSpPr>
          <p:nvPr>
            <p:ph type="dt" sz="half" idx="10"/>
          </p:nvPr>
        </p:nvSpPr>
        <p:spPr/>
        <p:txBody>
          <a:bodyPr/>
          <a:lstStyle/>
          <a:p>
            <a:fld id="{03843843-8351-4CD6-9C2F-6C5AB1372358}" type="datetimeFigureOut">
              <a:rPr lang="en-US" smtClean="0"/>
              <a:t>9/8/2026</a:t>
            </a:fld>
            <a:endParaRPr lang="en-US"/>
          </a:p>
        </p:txBody>
      </p:sp>
      <p:sp>
        <p:nvSpPr>
          <p:cNvPr id="5" name="Footer Placeholder 4">
            <a:extLst>
              <a:ext uri="{FF2B5EF4-FFF2-40B4-BE49-F238E27FC236}">
                <a16:creationId xmlns:a16="http://schemas.microsoft.com/office/drawing/2014/main" id="{48396141-55CC-46F0-997F-939EA8BDAD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2E98F8-7AFF-4ED3-AD4A-D1024FF2A924}"/>
              </a:ext>
            </a:extLst>
          </p:cNvPr>
          <p:cNvSpPr>
            <a:spLocks noGrp="1"/>
          </p:cNvSpPr>
          <p:nvPr>
            <p:ph type="sldNum" sz="quarter" idx="12"/>
          </p:nvPr>
        </p:nvSpPr>
        <p:spPr/>
        <p:txBody>
          <a:bodyPr/>
          <a:lstStyle/>
          <a:p>
            <a:fld id="{3712C4E4-5571-4A20-B810-C28D175D3E81}" type="slidenum">
              <a:rPr lang="en-US" smtClean="0"/>
              <a:t>‹#›</a:t>
            </a:fld>
            <a:endParaRPr lang="en-US"/>
          </a:p>
        </p:txBody>
      </p:sp>
    </p:spTree>
    <p:extLst>
      <p:ext uri="{BB962C8B-B14F-4D97-AF65-F5344CB8AC3E}">
        <p14:creationId xmlns:p14="http://schemas.microsoft.com/office/powerpoint/2010/main" val="132371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048786-D5A2-4795-872E-BF513A48B2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6697E05-E478-4B68-A6E0-F0AAAB0D88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036A2D-1D63-4EB8-B270-985788B69C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843843-8351-4CD6-9C2F-6C5AB1372358}" type="datetimeFigureOut">
              <a:rPr lang="en-US" smtClean="0"/>
              <a:t>9/8/2026</a:t>
            </a:fld>
            <a:endParaRPr lang="en-US"/>
          </a:p>
        </p:txBody>
      </p:sp>
      <p:sp>
        <p:nvSpPr>
          <p:cNvPr id="5" name="Footer Placeholder 4">
            <a:extLst>
              <a:ext uri="{FF2B5EF4-FFF2-40B4-BE49-F238E27FC236}">
                <a16:creationId xmlns:a16="http://schemas.microsoft.com/office/drawing/2014/main" id="{6C8A95F8-1470-4F23-8C1B-CD31F92F05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3C53AD7-391E-4899-AB43-8CEE598616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12C4E4-5571-4A20-B810-C28D175D3E81}" type="slidenum">
              <a:rPr lang="en-US" smtClean="0"/>
              <a:t>‹#›</a:t>
            </a:fld>
            <a:endParaRPr lang="en-US"/>
          </a:p>
        </p:txBody>
      </p:sp>
    </p:spTree>
    <p:extLst>
      <p:ext uri="{BB962C8B-B14F-4D97-AF65-F5344CB8AC3E}">
        <p14:creationId xmlns:p14="http://schemas.microsoft.com/office/powerpoint/2010/main" val="36934204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9ED99B-DBC5-4426-BBC6-8BBB2E2998D2}"/>
              </a:ext>
            </a:extLst>
          </p:cNvPr>
          <p:cNvSpPr txBox="1">
            <a:spLocks noChangeArrowheads="1"/>
          </p:cNvSpPr>
          <p:nvPr/>
        </p:nvSpPr>
        <p:spPr>
          <a:xfrm>
            <a:off x="1504943" y="-18057"/>
            <a:ext cx="10687051" cy="854325"/>
          </a:xfrm>
          <a:prstGeom prst="rect">
            <a:avLst/>
          </a:prstGeom>
          <a:solidFill>
            <a:srgbClr val="C00000"/>
          </a:solidFill>
        </p:spPr>
        <p:txBody>
          <a:bodyPr/>
          <a:lstStyle/>
          <a:p>
            <a:pPr algn="ctr" fontAlgn="base"/>
            <a:r>
              <a:rPr lang="en-IN" sz="4000" b="1" dirty="0">
                <a:solidFill>
                  <a:schemeClr val="bg1"/>
                </a:solidFill>
                <a:latin typeface="Times New Roman" panose="02020603050405020304" pitchFamily="18" charset="0"/>
                <a:cs typeface="Times New Roman" panose="02020603050405020304" pitchFamily="18" charset="0"/>
              </a:rPr>
              <a:t>3rd YEAR PROJECT PRESENTATION                               </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A311BE22-15C4-49E9-92D6-1535F166D04E}"/>
              </a:ext>
            </a:extLst>
          </p:cNvPr>
          <p:cNvSpPr txBox="1">
            <a:spLocks noChangeArrowheads="1"/>
          </p:cNvSpPr>
          <p:nvPr/>
        </p:nvSpPr>
        <p:spPr>
          <a:xfrm>
            <a:off x="-1" y="6436129"/>
            <a:ext cx="12191997" cy="401782"/>
          </a:xfrm>
          <a:prstGeom prst="rect">
            <a:avLst/>
          </a:prstGeom>
          <a:solidFill>
            <a:srgbClr val="C00000"/>
          </a:solidFill>
        </p:spPr>
        <p:txBody>
          <a:bodyPr/>
          <a:lstStyle/>
          <a:p>
            <a:pPr>
              <a:lnSpc>
                <a:spcPct val="90000"/>
              </a:lnSpc>
              <a:spcBef>
                <a:spcPct val="0"/>
              </a:spcBef>
              <a:defRPr/>
            </a:pPr>
            <a:r>
              <a:rPr kumimoji="0" lang="en-IN" altLang="zh-CN" sz="2400" b="1" i="0" u="none" strike="noStrike" kern="1200" cap="none" spc="0" normalizeH="0" baseline="0" noProof="0" dirty="0">
                <a:ln>
                  <a:noFill/>
                </a:ln>
                <a:solidFill>
                  <a:schemeClr val="bg1"/>
                </a:solidFill>
                <a:effectLst/>
                <a:uLnTx/>
                <a:uFillTx/>
                <a:latin typeface="Tinos"/>
                <a:ea typeface="+mj-ea"/>
                <a:cs typeface="+mj-cs"/>
              </a:rPr>
              <a:t>          		</a:t>
            </a:r>
            <a:endParaRPr lang="en-US" sz="2400" b="1" dirty="0">
              <a:solidFill>
                <a:schemeClr val="bg1"/>
              </a:solidFill>
            </a:endParaRPr>
          </a:p>
          <a:p>
            <a:pPr>
              <a:lnSpc>
                <a:spcPct val="90000"/>
              </a:lnSpc>
              <a:spcBef>
                <a:spcPct val="0"/>
              </a:spcBef>
              <a:defRPr/>
            </a:pPr>
            <a:endParaRPr lang="zh-CN" altLang="en-US" sz="2400" b="1" dirty="0">
              <a:solidFill>
                <a:schemeClr val="bg1"/>
              </a:solidFill>
              <a:latin typeface="Tinos"/>
            </a:endParaRPr>
          </a:p>
          <a:p>
            <a:pPr lvl="0">
              <a:lnSpc>
                <a:spcPct val="90000"/>
              </a:lnSpc>
              <a:spcBef>
                <a:spcPct val="0"/>
              </a:spcBef>
              <a:defRPr/>
            </a:pPr>
            <a:endParaRPr kumimoji="0" lang="en-IN" altLang="zh-CN" sz="2400" b="1" i="0" u="none" strike="noStrike" kern="1200" cap="none" spc="0" normalizeH="0" baseline="0" noProof="0" dirty="0">
              <a:ln>
                <a:noFill/>
              </a:ln>
              <a:solidFill>
                <a:schemeClr val="bg1"/>
              </a:solidFill>
              <a:effectLst/>
              <a:uLnTx/>
              <a:uFillTx/>
              <a:latin typeface="Tinos"/>
              <a:ea typeface="+mj-ea"/>
              <a:cs typeface="+mj-cs"/>
            </a:endParaRPr>
          </a:p>
        </p:txBody>
      </p:sp>
      <p:sp>
        <p:nvSpPr>
          <p:cNvPr id="6" name="TextBox 5">
            <a:extLst>
              <a:ext uri="{FF2B5EF4-FFF2-40B4-BE49-F238E27FC236}">
                <a16:creationId xmlns:a16="http://schemas.microsoft.com/office/drawing/2014/main" id="{7938415B-9138-40A8-9E17-54906A209D78}"/>
              </a:ext>
            </a:extLst>
          </p:cNvPr>
          <p:cNvSpPr txBox="1"/>
          <p:nvPr/>
        </p:nvSpPr>
        <p:spPr>
          <a:xfrm>
            <a:off x="1257698" y="856357"/>
            <a:ext cx="9997440" cy="5416868"/>
          </a:xfrm>
          <a:prstGeom prst="rect">
            <a:avLst/>
          </a:prstGeom>
          <a:noFill/>
        </p:spPr>
        <p:txBody>
          <a:bodyPr wrap="square">
            <a:spAutoFit/>
          </a:bodyPr>
          <a:lstStyle/>
          <a:p>
            <a:pPr algn="ctr"/>
            <a:r>
              <a:rPr lang="en-IN" sz="2200" b="1" dirty="0"/>
              <a:t>On</a:t>
            </a:r>
          </a:p>
          <a:p>
            <a:pPr algn="ctr"/>
            <a:r>
              <a:rPr lang="en-US" sz="2000" b="1" dirty="0"/>
              <a:t>ARTEMIS - Autonomous Reinforcement Trading with Episode-Mapped Intelligent Self-improvement</a:t>
            </a:r>
            <a:endParaRPr lang="en-IN" sz="2200" b="1" dirty="0"/>
          </a:p>
          <a:p>
            <a:pPr algn="ctr"/>
            <a:r>
              <a:rPr lang="en-IN" sz="2200" b="1" dirty="0"/>
              <a:t>Submitted by</a:t>
            </a:r>
            <a:endParaRPr lang="en-US" sz="2200" dirty="0"/>
          </a:p>
          <a:p>
            <a:pPr algn="ctr"/>
            <a:r>
              <a:rPr lang="en-US" sz="2000" dirty="0"/>
              <a:t> Surya Pratap Singh (2400971540133)</a:t>
            </a:r>
          </a:p>
          <a:p>
            <a:pPr algn="ctr"/>
            <a:r>
              <a:rPr lang="en-US" sz="2000" dirty="0"/>
              <a:t>Tanishq Gupta (2400971540136)</a:t>
            </a:r>
          </a:p>
          <a:p>
            <a:pPr algn="ctr"/>
            <a:r>
              <a:rPr lang="en-US" sz="2000" dirty="0"/>
              <a:t>Tauheed Ahmed (2400971540137)</a:t>
            </a:r>
          </a:p>
          <a:p>
            <a:pPr algn="ctr"/>
            <a:r>
              <a:rPr lang="en-US" sz="2000" dirty="0"/>
              <a:t>Utkarsh Das (2400971540140)</a:t>
            </a:r>
          </a:p>
          <a:p>
            <a:pPr algn="ctr"/>
            <a:r>
              <a:rPr lang="en-IN" sz="2200" b="1" dirty="0"/>
              <a:t>Under the Supervision</a:t>
            </a:r>
            <a:endParaRPr lang="en-US" sz="2200" dirty="0"/>
          </a:p>
          <a:p>
            <a:pPr algn="ctr"/>
            <a:r>
              <a:rPr lang="en-IN" sz="2200" b="1" dirty="0"/>
              <a:t>of</a:t>
            </a:r>
            <a:endParaRPr lang="en-US" sz="2200" dirty="0"/>
          </a:p>
          <a:p>
            <a:pPr algn="ctr"/>
            <a:r>
              <a:rPr lang="en-US" sz="2400" b="1" dirty="0"/>
              <a:t>Mr. Arvinda Kushwaha</a:t>
            </a:r>
          </a:p>
          <a:p>
            <a:pPr algn="ctr"/>
            <a:endParaRPr lang="en-US" sz="2400" b="1" dirty="0"/>
          </a:p>
          <a:p>
            <a:pPr algn="ctr"/>
            <a:r>
              <a:rPr lang="en-US" sz="2400" b="1" dirty="0"/>
              <a:t>Department of Data Science</a:t>
            </a:r>
            <a:endParaRPr lang="en-IN" sz="2400" dirty="0"/>
          </a:p>
          <a:p>
            <a:pPr algn="ctr"/>
            <a:r>
              <a:rPr lang="en-IN" sz="2200" b="1" dirty="0" err="1"/>
              <a:t>Galgotias</a:t>
            </a:r>
            <a:r>
              <a:rPr lang="en-IN" sz="2200" b="1" dirty="0"/>
              <a:t> College of Engineering &amp; Technology</a:t>
            </a:r>
            <a:endParaRPr lang="en-US" sz="2200" b="1" dirty="0"/>
          </a:p>
          <a:p>
            <a:pPr algn="ctr"/>
            <a:r>
              <a:rPr lang="en-IN" sz="2200" b="1" dirty="0"/>
              <a:t>  </a:t>
            </a:r>
            <a:r>
              <a:rPr lang="en-IN" b="1" dirty="0"/>
              <a:t>Greater Noida, Uttar Pradesh</a:t>
            </a:r>
            <a:endParaRPr lang="en-US" dirty="0"/>
          </a:p>
          <a:p>
            <a:pPr algn="ctr"/>
            <a:endParaRPr lang="en-US" sz="2200" b="1" dirty="0"/>
          </a:p>
        </p:txBody>
      </p:sp>
      <p:pic>
        <p:nvPicPr>
          <p:cNvPr id="1028" name="Picture 4" descr="https://galgotiacollege.edu/public/uploads/all/3106/phelosophy.jpeg">
            <a:extLst>
              <a:ext uri="{FF2B5EF4-FFF2-40B4-BE49-F238E27FC236}">
                <a16:creationId xmlns:a16="http://schemas.microsoft.com/office/drawing/2014/main" id="{A8415EEE-B85B-444D-966E-2290962AA0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453"/>
            <a:ext cx="1504949" cy="1033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7101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9ED99B-DBC5-4426-BBC6-8BBB2E2998D2}"/>
              </a:ext>
            </a:extLst>
          </p:cNvPr>
          <p:cNvSpPr txBox="1">
            <a:spLocks noChangeArrowheads="1"/>
          </p:cNvSpPr>
          <p:nvPr/>
        </p:nvSpPr>
        <p:spPr>
          <a:xfrm>
            <a:off x="1504943" y="-18057"/>
            <a:ext cx="10687051" cy="1033112"/>
          </a:xfrm>
          <a:prstGeom prst="rect">
            <a:avLst/>
          </a:prstGeom>
          <a:solidFill>
            <a:srgbClr val="C00000"/>
          </a:solidFill>
        </p:spPr>
        <p:txBody>
          <a:bodyPr/>
          <a:lstStyle/>
          <a:p>
            <a:pPr algn="ctr" fontAlgn="base"/>
            <a:r>
              <a:rPr lang="en-IN" sz="4000" b="1" dirty="0">
                <a:solidFill>
                  <a:schemeClr val="bg1"/>
                </a:solidFill>
                <a:latin typeface="Times New Roman" panose="02020603050405020304" pitchFamily="18" charset="0"/>
                <a:cs typeface="Times New Roman" panose="02020603050405020304" pitchFamily="18" charset="0"/>
              </a:rPr>
              <a:t>Outline</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A311BE22-15C4-49E9-92D6-1535F166D04E}"/>
              </a:ext>
            </a:extLst>
          </p:cNvPr>
          <p:cNvSpPr txBox="1">
            <a:spLocks noChangeArrowheads="1"/>
          </p:cNvSpPr>
          <p:nvPr/>
        </p:nvSpPr>
        <p:spPr>
          <a:xfrm>
            <a:off x="-1" y="6436129"/>
            <a:ext cx="12191997" cy="401782"/>
          </a:xfrm>
          <a:prstGeom prst="rect">
            <a:avLst/>
          </a:prstGeom>
          <a:solidFill>
            <a:srgbClr val="C00000"/>
          </a:solidFill>
        </p:spPr>
        <p:txBody>
          <a:bodyPr/>
          <a:lstStyle/>
          <a:p>
            <a:pPr>
              <a:lnSpc>
                <a:spcPct val="90000"/>
              </a:lnSpc>
              <a:spcBef>
                <a:spcPct val="0"/>
              </a:spcBef>
              <a:defRPr/>
            </a:pPr>
            <a:r>
              <a:rPr kumimoji="0" lang="en-IN" altLang="zh-CN" sz="2400" b="1" i="0" u="none" strike="noStrike" kern="1200" cap="none" spc="0" normalizeH="0" baseline="0" noProof="0" dirty="0">
                <a:ln>
                  <a:noFill/>
                </a:ln>
                <a:solidFill>
                  <a:schemeClr val="bg1"/>
                </a:solidFill>
                <a:effectLst/>
                <a:uLnTx/>
                <a:uFillTx/>
                <a:latin typeface="Tinos"/>
                <a:ea typeface="+mj-ea"/>
                <a:cs typeface="+mj-cs"/>
              </a:rPr>
              <a:t>          		</a:t>
            </a:r>
            <a:r>
              <a:rPr lang="en-IN" sz="2400" b="1" dirty="0">
                <a:solidFill>
                  <a:schemeClr val="bg1"/>
                </a:solidFill>
              </a:rPr>
              <a:t>                                                     </a:t>
            </a:r>
            <a:endParaRPr lang="en-US" sz="2400" b="1" dirty="0">
              <a:solidFill>
                <a:schemeClr val="bg1"/>
              </a:solidFill>
            </a:endParaRPr>
          </a:p>
        </p:txBody>
      </p:sp>
      <p:sp>
        <p:nvSpPr>
          <p:cNvPr id="6" name="TextBox 5">
            <a:extLst>
              <a:ext uri="{FF2B5EF4-FFF2-40B4-BE49-F238E27FC236}">
                <a16:creationId xmlns:a16="http://schemas.microsoft.com/office/drawing/2014/main" id="{7938415B-9138-40A8-9E17-54906A209D78}"/>
              </a:ext>
            </a:extLst>
          </p:cNvPr>
          <p:cNvSpPr txBox="1"/>
          <p:nvPr/>
        </p:nvSpPr>
        <p:spPr>
          <a:xfrm>
            <a:off x="1415490" y="1185211"/>
            <a:ext cx="9589774" cy="3139321"/>
          </a:xfrm>
          <a:prstGeom prst="rect">
            <a:avLst/>
          </a:prstGeom>
          <a:noFill/>
        </p:spPr>
        <p:txBody>
          <a:bodyPr wrap="square">
            <a:spAutoFit/>
          </a:bodyPr>
          <a:lstStyle/>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Introduction</a:t>
            </a:r>
          </a:p>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Alignment with UN Sustainable Development Goals (SDGs 8 and 9)</a:t>
            </a:r>
          </a:p>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Problem Statement</a:t>
            </a:r>
          </a:p>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Literature Survey</a:t>
            </a:r>
          </a:p>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Research Gap</a:t>
            </a:r>
          </a:p>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Research Methodology</a:t>
            </a:r>
          </a:p>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System Architecture</a:t>
            </a:r>
          </a:p>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Implementation Progress</a:t>
            </a:r>
          </a:p>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Result Analysis</a:t>
            </a:r>
          </a:p>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Conclusion</a:t>
            </a:r>
          </a:p>
          <a:p>
            <a:pPr marL="342900" indent="-3429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References</a:t>
            </a:r>
          </a:p>
        </p:txBody>
      </p:sp>
      <p:pic>
        <p:nvPicPr>
          <p:cNvPr id="1028" name="Picture 4" descr="https://galgotiacollege.edu/public/uploads/all/3106/phelosophy.jpeg">
            <a:extLst>
              <a:ext uri="{FF2B5EF4-FFF2-40B4-BE49-F238E27FC236}">
                <a16:creationId xmlns:a16="http://schemas.microsoft.com/office/drawing/2014/main" id="{A8415EEE-B85B-444D-966E-2290962AA0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453"/>
            <a:ext cx="1504949" cy="1033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56410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9ED99B-DBC5-4426-BBC6-8BBB2E2998D2}"/>
              </a:ext>
            </a:extLst>
          </p:cNvPr>
          <p:cNvSpPr txBox="1">
            <a:spLocks noChangeArrowheads="1"/>
          </p:cNvSpPr>
          <p:nvPr/>
        </p:nvSpPr>
        <p:spPr>
          <a:xfrm>
            <a:off x="1504943" y="-18057"/>
            <a:ext cx="10687051" cy="1033112"/>
          </a:xfrm>
          <a:prstGeom prst="rect">
            <a:avLst/>
          </a:prstGeom>
          <a:solidFill>
            <a:srgbClr val="C00000"/>
          </a:solidFill>
        </p:spPr>
        <p:txBody>
          <a:bodyPr/>
          <a:lstStyle/>
          <a:p>
            <a:pPr algn="ctr" fontAlgn="base"/>
            <a:r>
              <a:rPr lang="en-IN" sz="4000" b="1" dirty="0">
                <a:solidFill>
                  <a:schemeClr val="bg1"/>
                </a:solidFill>
                <a:latin typeface="Times New Roman" panose="02020603050405020304" pitchFamily="18" charset="0"/>
                <a:cs typeface="Times New Roman" panose="02020603050405020304" pitchFamily="18" charset="0"/>
              </a:rPr>
              <a:t>Introduction                                 </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A311BE22-15C4-49E9-92D6-1535F166D04E}"/>
              </a:ext>
            </a:extLst>
          </p:cNvPr>
          <p:cNvSpPr txBox="1">
            <a:spLocks noChangeArrowheads="1"/>
          </p:cNvSpPr>
          <p:nvPr/>
        </p:nvSpPr>
        <p:spPr>
          <a:xfrm>
            <a:off x="-1" y="6436129"/>
            <a:ext cx="12191997" cy="401782"/>
          </a:xfrm>
          <a:prstGeom prst="rect">
            <a:avLst/>
          </a:prstGeom>
          <a:solidFill>
            <a:srgbClr val="C00000"/>
          </a:solidFill>
        </p:spPr>
        <p:txBody>
          <a:bodyPr/>
          <a:lstStyle/>
          <a:p>
            <a:pPr>
              <a:lnSpc>
                <a:spcPct val="90000"/>
              </a:lnSpc>
              <a:spcBef>
                <a:spcPct val="0"/>
              </a:spcBef>
              <a:defRPr/>
            </a:pPr>
            <a:r>
              <a:rPr kumimoji="0" lang="en-IN" altLang="zh-CN" sz="2400" b="1" i="0" u="none" strike="noStrike" kern="1200" cap="none" spc="0" normalizeH="0" baseline="0" noProof="0" dirty="0">
                <a:ln>
                  <a:noFill/>
                </a:ln>
                <a:solidFill>
                  <a:schemeClr val="bg1"/>
                </a:solidFill>
                <a:effectLst/>
                <a:uLnTx/>
                <a:uFillTx/>
                <a:latin typeface="Tinos"/>
                <a:ea typeface="+mj-ea"/>
                <a:cs typeface="+mj-cs"/>
              </a:rPr>
              <a:t>          		</a:t>
            </a:r>
            <a:r>
              <a:rPr lang="en-IN" sz="2400" b="1" dirty="0">
                <a:solidFill>
                  <a:schemeClr val="bg1"/>
                </a:solidFill>
              </a:rPr>
              <a:t>                                                  </a:t>
            </a:r>
            <a:endParaRPr lang="en-US" sz="2400" b="1" dirty="0">
              <a:solidFill>
                <a:schemeClr val="bg1"/>
              </a:solidFill>
            </a:endParaRPr>
          </a:p>
          <a:p>
            <a:pPr>
              <a:lnSpc>
                <a:spcPct val="90000"/>
              </a:lnSpc>
              <a:spcBef>
                <a:spcPct val="0"/>
              </a:spcBef>
              <a:defRPr/>
            </a:pPr>
            <a:endParaRPr lang="zh-CN" altLang="en-US" sz="2400" b="1" dirty="0">
              <a:solidFill>
                <a:schemeClr val="bg1"/>
              </a:solidFill>
              <a:latin typeface="Tinos"/>
            </a:endParaRPr>
          </a:p>
          <a:p>
            <a:pPr lvl="0">
              <a:lnSpc>
                <a:spcPct val="90000"/>
              </a:lnSpc>
              <a:spcBef>
                <a:spcPct val="0"/>
              </a:spcBef>
              <a:defRPr/>
            </a:pPr>
            <a:endParaRPr kumimoji="0" lang="en-IN" altLang="zh-CN" sz="2400" b="1" i="0" u="none" strike="noStrike" kern="1200" cap="none" spc="0" normalizeH="0" baseline="0" noProof="0" dirty="0">
              <a:ln>
                <a:noFill/>
              </a:ln>
              <a:solidFill>
                <a:schemeClr val="bg1"/>
              </a:solidFill>
              <a:effectLst/>
              <a:uLnTx/>
              <a:uFillTx/>
              <a:latin typeface="Tinos"/>
              <a:ea typeface="+mj-ea"/>
              <a:cs typeface="+mj-cs"/>
            </a:endParaRPr>
          </a:p>
        </p:txBody>
      </p:sp>
      <p:sp>
        <p:nvSpPr>
          <p:cNvPr id="6" name="TextBox 5">
            <a:extLst>
              <a:ext uri="{FF2B5EF4-FFF2-40B4-BE49-F238E27FC236}">
                <a16:creationId xmlns:a16="http://schemas.microsoft.com/office/drawing/2014/main" id="{7938415B-9138-40A8-9E17-54906A209D78}"/>
              </a:ext>
            </a:extLst>
          </p:cNvPr>
          <p:cNvSpPr txBox="1"/>
          <p:nvPr/>
        </p:nvSpPr>
        <p:spPr>
          <a:xfrm>
            <a:off x="1504943" y="1242392"/>
            <a:ext cx="10342499" cy="3477875"/>
          </a:xfrm>
          <a:prstGeom prst="rect">
            <a:avLst/>
          </a:prstGeom>
          <a:noFill/>
        </p:spPr>
        <p:txBody>
          <a:bodyPr wrap="square">
            <a:spAutoFit/>
          </a:bodyPr>
          <a:lstStyle/>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Reinforcement learning (RL) agents can be trained to trade stocks automatically - but they fail silently and cannot explain why they lost money.</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Every existing RL trading system requires a human engineer to manually analyze failures, adjust the reward function, and retrain from scratch when performance degrades.</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bottleneck makes RL trading systems unscalable, slow to adapt, and dependent on domain expertise at every failure.</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ARTEMIS introduces a closed-loop framework where the AI diagnoses its own trading failures using an attention-augmented LSTM and automatically adjusts its reward function using a SAC meta-policy - without any human intervention after initial setup.</a:t>
            </a: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system trades NIFTY 50 (India) using real historical data from 2020 to 2024 across bull, bear, and sideways market regimes.</a:t>
            </a:r>
          </a:p>
        </p:txBody>
      </p:sp>
      <p:pic>
        <p:nvPicPr>
          <p:cNvPr id="1028" name="Picture 4" descr="https://galgotiacollege.edu/public/uploads/all/3106/phelosophy.jpeg">
            <a:extLst>
              <a:ext uri="{FF2B5EF4-FFF2-40B4-BE49-F238E27FC236}">
                <a16:creationId xmlns:a16="http://schemas.microsoft.com/office/drawing/2014/main" id="{A8415EEE-B85B-444D-966E-2290962AA0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453"/>
            <a:ext cx="1504949" cy="1033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9843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4C485-4BE7-8481-7047-BC5B6350A28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5F1A45CA-E498-6256-3060-458175F0C3F3}"/>
              </a:ext>
            </a:extLst>
          </p:cNvPr>
          <p:cNvSpPr txBox="1">
            <a:spLocks noChangeArrowheads="1"/>
          </p:cNvSpPr>
          <p:nvPr/>
        </p:nvSpPr>
        <p:spPr>
          <a:xfrm>
            <a:off x="1504943" y="-18057"/>
            <a:ext cx="10687051" cy="693918"/>
          </a:xfrm>
          <a:prstGeom prst="rect">
            <a:avLst/>
          </a:prstGeom>
          <a:solidFill>
            <a:srgbClr val="C00000"/>
          </a:solidFill>
        </p:spPr>
        <p:txBody>
          <a:bodyPr/>
          <a:lstStyle/>
          <a:p>
            <a:pPr algn="ctr" fontAlgn="base"/>
            <a:r>
              <a:rPr lang="en-US" sz="3200" dirty="0">
                <a:solidFill>
                  <a:schemeClr val="bg1"/>
                </a:solidFill>
                <a:latin typeface="Times New Roman" panose="02020603050405020304" pitchFamily="18" charset="0"/>
                <a:cs typeface="Times New Roman" panose="02020603050405020304" pitchFamily="18" charset="0"/>
              </a:rPr>
              <a:t>Alignment with UN Sustainable Development Goals (SDGs)</a:t>
            </a:r>
            <a:endParaRPr lang="es-ES" sz="3200" dirty="0">
              <a:solidFill>
                <a:schemeClr val="bg1"/>
              </a:solidFill>
              <a:latin typeface="Times New Roman" panose="02020603050405020304" pitchFamily="18" charset="0"/>
              <a:cs typeface="Times New Roman" panose="02020603050405020304" pitchFamily="18" charset="0"/>
            </a:endParaRPr>
          </a:p>
          <a:p>
            <a:pPr algn="ctr" fontAlgn="base"/>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5F64A3AE-539A-62D5-E8AB-9EF998775880}"/>
              </a:ext>
            </a:extLst>
          </p:cNvPr>
          <p:cNvSpPr txBox="1">
            <a:spLocks noChangeArrowheads="1"/>
          </p:cNvSpPr>
          <p:nvPr/>
        </p:nvSpPr>
        <p:spPr>
          <a:xfrm>
            <a:off x="-1" y="6436129"/>
            <a:ext cx="12191997" cy="401782"/>
          </a:xfrm>
          <a:prstGeom prst="rect">
            <a:avLst/>
          </a:prstGeom>
          <a:solidFill>
            <a:srgbClr val="C00000"/>
          </a:solidFill>
        </p:spPr>
        <p:txBody>
          <a:bodyPr/>
          <a:lstStyle/>
          <a:p>
            <a:pPr>
              <a:lnSpc>
                <a:spcPct val="90000"/>
              </a:lnSpc>
              <a:spcBef>
                <a:spcPct val="0"/>
              </a:spcBef>
              <a:defRPr/>
            </a:pPr>
            <a:r>
              <a:rPr kumimoji="0" lang="en-IN" altLang="zh-CN" sz="2400" b="1" i="0" u="none" strike="noStrike" kern="1200" cap="none" spc="0" normalizeH="0" baseline="0" noProof="0" dirty="0">
                <a:ln>
                  <a:noFill/>
                </a:ln>
                <a:solidFill>
                  <a:schemeClr val="bg1"/>
                </a:solidFill>
                <a:effectLst/>
                <a:uLnTx/>
                <a:uFillTx/>
                <a:latin typeface="Tinos"/>
                <a:ea typeface="+mj-ea"/>
                <a:cs typeface="+mj-cs"/>
              </a:rPr>
              <a:t>          		</a:t>
            </a:r>
            <a:r>
              <a:rPr lang="en-IN" sz="2400" b="1" dirty="0">
                <a:solidFill>
                  <a:schemeClr val="bg1"/>
                </a:solidFill>
              </a:rPr>
              <a:t>                                                     </a:t>
            </a:r>
            <a:endParaRPr lang="en-US" sz="2400" b="1" dirty="0">
              <a:solidFill>
                <a:schemeClr val="bg1"/>
              </a:solidFill>
            </a:endParaRPr>
          </a:p>
        </p:txBody>
      </p:sp>
      <p:sp>
        <p:nvSpPr>
          <p:cNvPr id="6" name="TextBox 5">
            <a:extLst>
              <a:ext uri="{FF2B5EF4-FFF2-40B4-BE49-F238E27FC236}">
                <a16:creationId xmlns:a16="http://schemas.microsoft.com/office/drawing/2014/main" id="{A632DB7F-58A8-72A4-911F-EE7667E4A61F}"/>
              </a:ext>
            </a:extLst>
          </p:cNvPr>
          <p:cNvSpPr txBox="1"/>
          <p:nvPr/>
        </p:nvSpPr>
        <p:spPr>
          <a:xfrm>
            <a:off x="89453" y="1155338"/>
            <a:ext cx="12433852" cy="4524315"/>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SDG 8 – Decent Work &amp; Economic Growth</a:t>
            </a:r>
          </a:p>
          <a:p>
            <a:pPr>
              <a:buNone/>
            </a:pPr>
            <a:endParaRPr lang="en-US" b="1"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Goal: </a:t>
            </a:r>
            <a:r>
              <a:rPr lang="en-US" dirty="0">
                <a:latin typeface="Times New Roman" panose="02020603050405020304" pitchFamily="18" charset="0"/>
                <a:cs typeface="Times New Roman" panose="02020603050405020304" pitchFamily="18" charset="0"/>
              </a:rPr>
              <a:t>Promote sustained, inclusive, and sustainable economic growth, full and productive employment, and decent work for all.</a:t>
            </a:r>
          </a:p>
          <a:p>
            <a:pPr>
              <a:buNone/>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How ARTEMIS Aligns with SDG 8:</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ARTEMIS democratizes access to AI-driven financial decision-making - technology previously available only to large institutions becomes accessible to small investors and researchers.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By automating reward engineering, ARTEMIS reduces the skilled-labor bottleneck in deploying RL trading systems, enabling broader economic participation in algorithmic finance.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More efficient and self-correcting trading agents contribute to healthier, more liquid capital markets - supporting sustainable economic growth.</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ARTEMIS demonstrates that research-grade AI systems can be built on accessible CPU hardware - reducing the infrastructure cost barrier for economic innovation in developing markets.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framework supports financial inclusion by making autonomous trading research possible without expensive cloud GPU infrastructure.</a:t>
            </a:r>
          </a:p>
          <a:p>
            <a:pPr algn="ctr"/>
            <a:endParaRPr lang="es-ES" b="1" dirty="0">
              <a:latin typeface="Times New Roman" panose="02020603050405020304" pitchFamily="18" charset="0"/>
              <a:cs typeface="Times New Roman" panose="02020603050405020304" pitchFamily="18" charset="0"/>
            </a:endParaRPr>
          </a:p>
        </p:txBody>
      </p:sp>
      <p:pic>
        <p:nvPicPr>
          <p:cNvPr id="1028" name="Picture 4" descr="https://galgotiacollege.edu/public/uploads/all/3106/phelosophy.jpeg">
            <a:extLst>
              <a:ext uri="{FF2B5EF4-FFF2-40B4-BE49-F238E27FC236}">
                <a16:creationId xmlns:a16="http://schemas.microsoft.com/office/drawing/2014/main" id="{526C93BD-464D-CC11-A344-BC7579CD80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453"/>
            <a:ext cx="1504949" cy="103311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C7B45D2-8611-5BCB-34DB-07B6AE1C56E2}"/>
              </a:ext>
            </a:extLst>
          </p:cNvPr>
          <p:cNvSpPr txBox="1"/>
          <p:nvPr/>
        </p:nvSpPr>
        <p:spPr>
          <a:xfrm>
            <a:off x="2596605" y="584650"/>
            <a:ext cx="8090452"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Alignment of Project with SDG 8 &amp; SDG 9</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0010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56428-9585-A285-BAEF-2C911F3C7286}"/>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59497FD-BC78-CD64-B6E7-156D834433FF}"/>
              </a:ext>
            </a:extLst>
          </p:cNvPr>
          <p:cNvSpPr txBox="1">
            <a:spLocks noChangeArrowheads="1"/>
          </p:cNvSpPr>
          <p:nvPr/>
        </p:nvSpPr>
        <p:spPr>
          <a:xfrm>
            <a:off x="1504943" y="-18057"/>
            <a:ext cx="10687051" cy="693918"/>
          </a:xfrm>
          <a:prstGeom prst="rect">
            <a:avLst/>
          </a:prstGeom>
          <a:solidFill>
            <a:srgbClr val="C00000"/>
          </a:solidFill>
        </p:spPr>
        <p:txBody>
          <a:bodyPr/>
          <a:lstStyle/>
          <a:p>
            <a:pPr algn="ctr" fontAlgn="base"/>
            <a:r>
              <a:rPr lang="en-US" sz="2800" dirty="0">
                <a:solidFill>
                  <a:schemeClr val="bg1"/>
                </a:solidFill>
                <a:latin typeface="Times New Roman" panose="02020603050405020304" pitchFamily="18" charset="0"/>
                <a:cs typeface="Times New Roman" panose="02020603050405020304" pitchFamily="18" charset="0"/>
              </a:rPr>
              <a:t>Alignment with UN Sustainable Development Goals (SDGs) Contd..</a:t>
            </a:r>
            <a:endParaRPr lang="es-ES" sz="2800" dirty="0">
              <a:solidFill>
                <a:schemeClr val="bg1"/>
              </a:solidFill>
              <a:latin typeface="Times New Roman" panose="02020603050405020304" pitchFamily="18" charset="0"/>
              <a:cs typeface="Times New Roman" panose="02020603050405020304" pitchFamily="18" charset="0"/>
            </a:endParaRPr>
          </a:p>
          <a:p>
            <a:pPr algn="ctr" fontAlgn="base"/>
            <a:endParaRPr lang="en-IN" sz="2800" dirty="0">
              <a:solidFill>
                <a:schemeClr val="bg1"/>
              </a:solidFill>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68436021-9B55-1EF8-8D3E-4C8CF8A67E73}"/>
              </a:ext>
            </a:extLst>
          </p:cNvPr>
          <p:cNvSpPr txBox="1">
            <a:spLocks noChangeArrowheads="1"/>
          </p:cNvSpPr>
          <p:nvPr/>
        </p:nvSpPr>
        <p:spPr>
          <a:xfrm>
            <a:off x="-1" y="6436129"/>
            <a:ext cx="12191997" cy="401782"/>
          </a:xfrm>
          <a:prstGeom prst="rect">
            <a:avLst/>
          </a:prstGeom>
          <a:solidFill>
            <a:srgbClr val="C00000"/>
          </a:solidFill>
        </p:spPr>
        <p:txBody>
          <a:bodyPr/>
          <a:lstStyle/>
          <a:p>
            <a:pPr>
              <a:lnSpc>
                <a:spcPct val="90000"/>
              </a:lnSpc>
              <a:spcBef>
                <a:spcPct val="0"/>
              </a:spcBef>
              <a:defRPr/>
            </a:pPr>
            <a:r>
              <a:rPr kumimoji="0" lang="en-IN" altLang="zh-CN" sz="2400" b="1" i="0" u="none" strike="noStrike" kern="1200" cap="none" spc="0" normalizeH="0" baseline="0" noProof="0" dirty="0">
                <a:ln>
                  <a:noFill/>
                </a:ln>
                <a:solidFill>
                  <a:schemeClr val="bg1"/>
                </a:solidFill>
                <a:effectLst/>
                <a:uLnTx/>
                <a:uFillTx/>
                <a:latin typeface="Tinos"/>
                <a:ea typeface="+mj-ea"/>
                <a:cs typeface="+mj-cs"/>
              </a:rPr>
              <a:t>          		</a:t>
            </a:r>
            <a:r>
              <a:rPr lang="en-IN" sz="2400" b="1" dirty="0">
                <a:solidFill>
                  <a:schemeClr val="bg1"/>
                </a:solidFill>
              </a:rPr>
              <a:t>                                                     </a:t>
            </a:r>
            <a:endParaRPr lang="en-US" sz="2400" b="1" dirty="0">
              <a:solidFill>
                <a:schemeClr val="bg1"/>
              </a:solidFill>
            </a:endParaRPr>
          </a:p>
        </p:txBody>
      </p:sp>
      <p:pic>
        <p:nvPicPr>
          <p:cNvPr id="1028" name="Picture 4" descr="https://galgotiacollege.edu/public/uploads/all/3106/phelosophy.jpeg">
            <a:extLst>
              <a:ext uri="{FF2B5EF4-FFF2-40B4-BE49-F238E27FC236}">
                <a16:creationId xmlns:a16="http://schemas.microsoft.com/office/drawing/2014/main" id="{47B2B963-9C43-DCDF-6D39-35F6996468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453"/>
            <a:ext cx="1504949" cy="103311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B1BC7E2-584F-DFC3-8D21-034589BDADD3}"/>
              </a:ext>
            </a:extLst>
          </p:cNvPr>
          <p:cNvSpPr txBox="1"/>
          <p:nvPr/>
        </p:nvSpPr>
        <p:spPr>
          <a:xfrm>
            <a:off x="79512" y="1155338"/>
            <a:ext cx="11857383" cy="3970318"/>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SDG 9 – Industry, Innovation &amp; Infrastructure</a:t>
            </a:r>
          </a:p>
          <a:p>
            <a:pPr>
              <a:buNone/>
            </a:pPr>
            <a:endParaRPr lang="en-US" b="1"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Goal: </a:t>
            </a:r>
            <a:r>
              <a:rPr lang="en-US" dirty="0">
                <a:latin typeface="Times New Roman" panose="02020603050405020304" pitchFamily="18" charset="0"/>
                <a:cs typeface="Times New Roman" panose="02020603050405020304" pitchFamily="18" charset="0"/>
              </a:rPr>
              <a:t>Build resilient infrastructure, promote inclusive and sustainable industrialization, and foster innovation.</a:t>
            </a:r>
          </a:p>
          <a:p>
            <a:pPr>
              <a:buNone/>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How ARTEMIS Aligns with SDG 9:</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ARTEMIS introduces a primary research innovation: the first closed-loop meta-RL framework where reward engineering itself is treated as a reinforcement learning problem solved by a SAC meta-policy.</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attention-augmented LSTM that diagnoses structural trading failure modes from full episode trajectories is a novel AI architecture contribution applicable beyond finance.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14-module software infrastructure (data pipeline, trading environment, diagnostic model, meta-policy, ablation framework, and live dashboard) constitutes a reusable research platform for AI-in-finance applications.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ARTEMIS demonstrates that research-grade autonomous AI systems can be developed on standard CPU hardware - supporting innovation in regions with limited GPU infrastructure.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open-source nature of the project builds shared digital research infrastructure for the academic community.</a:t>
            </a:r>
          </a:p>
        </p:txBody>
      </p:sp>
    </p:spTree>
    <p:extLst>
      <p:ext uri="{BB962C8B-B14F-4D97-AF65-F5344CB8AC3E}">
        <p14:creationId xmlns:p14="http://schemas.microsoft.com/office/powerpoint/2010/main" val="2567499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8A879-1C2C-9079-327B-304D7EA16AAD}"/>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2E247F62-9F82-8925-B30F-3EBD4CDF87F3}"/>
              </a:ext>
            </a:extLst>
          </p:cNvPr>
          <p:cNvSpPr txBox="1">
            <a:spLocks noChangeArrowheads="1"/>
          </p:cNvSpPr>
          <p:nvPr/>
        </p:nvSpPr>
        <p:spPr>
          <a:xfrm>
            <a:off x="1504943" y="-18057"/>
            <a:ext cx="10687051" cy="693918"/>
          </a:xfrm>
          <a:prstGeom prst="rect">
            <a:avLst/>
          </a:prstGeom>
          <a:solidFill>
            <a:srgbClr val="C00000"/>
          </a:solidFill>
        </p:spPr>
        <p:txBody>
          <a:bodyPr/>
          <a:lstStyle/>
          <a:p>
            <a:pPr algn="ctr" fontAlgn="base"/>
            <a:r>
              <a:rPr lang="en-US" sz="2800" dirty="0">
                <a:solidFill>
                  <a:schemeClr val="bg1"/>
                </a:solidFill>
                <a:latin typeface="Times New Roman" panose="02020603050405020304" pitchFamily="18" charset="0"/>
                <a:cs typeface="Times New Roman" panose="02020603050405020304" pitchFamily="18" charset="0"/>
              </a:rPr>
              <a:t>Alignment with UN Sustainable Development Goals (SDGs) Contd..</a:t>
            </a:r>
            <a:endParaRPr lang="es-ES" sz="2800" dirty="0">
              <a:solidFill>
                <a:schemeClr val="bg1"/>
              </a:solidFill>
              <a:latin typeface="Times New Roman" panose="02020603050405020304" pitchFamily="18" charset="0"/>
              <a:cs typeface="Times New Roman" panose="02020603050405020304" pitchFamily="18" charset="0"/>
            </a:endParaRPr>
          </a:p>
          <a:p>
            <a:pPr algn="ctr" fontAlgn="base"/>
            <a:endParaRPr lang="en-IN" sz="2800" dirty="0">
              <a:solidFill>
                <a:schemeClr val="bg1"/>
              </a:solidFill>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D0D9DE21-7643-9C3B-DA75-11F8D2A9B6FE}"/>
              </a:ext>
            </a:extLst>
          </p:cNvPr>
          <p:cNvSpPr txBox="1">
            <a:spLocks noChangeArrowheads="1"/>
          </p:cNvSpPr>
          <p:nvPr/>
        </p:nvSpPr>
        <p:spPr>
          <a:xfrm>
            <a:off x="-1" y="6436129"/>
            <a:ext cx="12191997" cy="401782"/>
          </a:xfrm>
          <a:prstGeom prst="rect">
            <a:avLst/>
          </a:prstGeom>
          <a:solidFill>
            <a:srgbClr val="C00000"/>
          </a:solidFill>
        </p:spPr>
        <p:txBody>
          <a:bodyPr/>
          <a:lstStyle/>
          <a:p>
            <a:pPr>
              <a:lnSpc>
                <a:spcPct val="90000"/>
              </a:lnSpc>
              <a:spcBef>
                <a:spcPct val="0"/>
              </a:spcBef>
              <a:defRPr/>
            </a:pPr>
            <a:r>
              <a:rPr kumimoji="0" lang="en-IN" altLang="zh-CN" sz="2400" b="1" i="0" u="none" strike="noStrike" kern="1200" cap="none" spc="0" normalizeH="0" baseline="0" noProof="0" dirty="0">
                <a:ln>
                  <a:noFill/>
                </a:ln>
                <a:solidFill>
                  <a:schemeClr val="bg1"/>
                </a:solidFill>
                <a:effectLst/>
                <a:uLnTx/>
                <a:uFillTx/>
                <a:latin typeface="Tinos"/>
                <a:ea typeface="+mj-ea"/>
                <a:cs typeface="+mj-cs"/>
              </a:rPr>
              <a:t>          		</a:t>
            </a:r>
            <a:r>
              <a:rPr lang="en-IN" sz="2400" b="1" dirty="0">
                <a:solidFill>
                  <a:schemeClr val="bg1"/>
                </a:solidFill>
              </a:rPr>
              <a:t>                                                     </a:t>
            </a:r>
            <a:endParaRPr lang="en-US" sz="2400" b="1" dirty="0">
              <a:solidFill>
                <a:schemeClr val="bg1"/>
              </a:solidFill>
            </a:endParaRPr>
          </a:p>
        </p:txBody>
      </p:sp>
      <p:pic>
        <p:nvPicPr>
          <p:cNvPr id="1028" name="Picture 4" descr="https://galgotiacollege.edu/public/uploads/all/3106/phelosophy.jpeg">
            <a:extLst>
              <a:ext uri="{FF2B5EF4-FFF2-40B4-BE49-F238E27FC236}">
                <a16:creationId xmlns:a16="http://schemas.microsoft.com/office/drawing/2014/main" id="{4F491381-E373-2C3F-FAD3-E762C44E39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453"/>
            <a:ext cx="1504949" cy="103311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6">
            <a:extLst>
              <a:ext uri="{FF2B5EF4-FFF2-40B4-BE49-F238E27FC236}">
                <a16:creationId xmlns:a16="http://schemas.microsoft.com/office/drawing/2014/main" id="{9680AB3C-226B-BB8E-C6B7-FD57B4F13135}"/>
              </a:ext>
            </a:extLst>
          </p:cNvPr>
          <p:cNvGraphicFramePr>
            <a:graphicFrameLocks noGrp="1"/>
          </p:cNvGraphicFramePr>
          <p:nvPr>
            <p:extLst>
              <p:ext uri="{D42A27DB-BD31-4B8C-83A1-F6EECF244321}">
                <p14:modId xmlns:p14="http://schemas.microsoft.com/office/powerpoint/2010/main" val="4229577474"/>
              </p:ext>
            </p:extLst>
          </p:nvPr>
        </p:nvGraphicFramePr>
        <p:xfrm>
          <a:off x="318052" y="1437854"/>
          <a:ext cx="11787809" cy="5138157"/>
        </p:xfrm>
        <a:graphic>
          <a:graphicData uri="http://schemas.openxmlformats.org/drawingml/2006/table">
            <a:tbl>
              <a:tblPr firstRow="1" bandRow="1">
                <a:tableStyleId>{C4B1156A-380E-4F78-BDF5-A606A8083BF9}</a:tableStyleId>
              </a:tblPr>
              <a:tblGrid>
                <a:gridCol w="2584174">
                  <a:extLst>
                    <a:ext uri="{9D8B030D-6E8A-4147-A177-3AD203B41FA5}">
                      <a16:colId xmlns:a16="http://schemas.microsoft.com/office/drawing/2014/main" val="1762589654"/>
                    </a:ext>
                  </a:extLst>
                </a:gridCol>
                <a:gridCol w="4691270">
                  <a:extLst>
                    <a:ext uri="{9D8B030D-6E8A-4147-A177-3AD203B41FA5}">
                      <a16:colId xmlns:a16="http://schemas.microsoft.com/office/drawing/2014/main" val="2574571858"/>
                    </a:ext>
                  </a:extLst>
                </a:gridCol>
                <a:gridCol w="4512365">
                  <a:extLst>
                    <a:ext uri="{9D8B030D-6E8A-4147-A177-3AD203B41FA5}">
                      <a16:colId xmlns:a16="http://schemas.microsoft.com/office/drawing/2014/main" val="3388391081"/>
                    </a:ext>
                  </a:extLst>
                </a:gridCol>
              </a:tblGrid>
              <a:tr h="356800">
                <a:tc>
                  <a:txBody>
                    <a:bodyPr/>
                    <a:lstStyle/>
                    <a:p>
                      <a:r>
                        <a:rPr lang="en-IN" sz="1800" b="1" dirty="0"/>
                        <a:t>Focus Area</a:t>
                      </a:r>
                    </a:p>
                  </a:txBody>
                  <a:tcPr anchor="ctr"/>
                </a:tc>
                <a:tc>
                  <a:txBody>
                    <a:bodyPr/>
                    <a:lstStyle/>
                    <a:p>
                      <a:r>
                        <a:rPr lang="en-IN" sz="1800" b="1" dirty="0"/>
                        <a:t>SDG Target Code</a:t>
                      </a:r>
                    </a:p>
                  </a:txBody>
                  <a:tcPr anchor="ctr"/>
                </a:tc>
                <a:tc>
                  <a:txBody>
                    <a:bodyPr/>
                    <a:lstStyle/>
                    <a:p>
                      <a:r>
                        <a:rPr lang="en-IN" sz="1800" b="1" dirty="0"/>
                        <a:t>How ARTEMIS Addresses It</a:t>
                      </a:r>
                    </a:p>
                  </a:txBody>
                  <a:tcPr anchor="ctr"/>
                </a:tc>
                <a:extLst>
                  <a:ext uri="{0D108BD9-81ED-4DB2-BD59-A6C34878D82A}">
                    <a16:rowId xmlns:a16="http://schemas.microsoft.com/office/drawing/2014/main" val="461354413"/>
                  </a:ext>
                </a:extLst>
              </a:tr>
              <a:tr h="1159599">
                <a:tc>
                  <a:txBody>
                    <a:bodyPr/>
                    <a:lstStyle/>
                    <a:p>
                      <a:r>
                        <a:rPr lang="en-IN" sz="1800" b="1" dirty="0"/>
                        <a:t>Financial Inclusion</a:t>
                      </a:r>
                    </a:p>
                  </a:txBody>
                  <a:tcPr anchor="ctr"/>
                </a:tc>
                <a:tc>
                  <a:txBody>
                    <a:bodyPr/>
                    <a:lstStyle/>
                    <a:p>
                      <a:r>
                        <a:rPr lang="en-US" sz="1800" b="1" dirty="0"/>
                        <a:t>SDG 8.3</a:t>
                      </a:r>
                    </a:p>
                  </a:txBody>
                  <a:tcPr anchor="ctr"/>
                </a:tc>
                <a:tc>
                  <a:txBody>
                    <a:bodyPr/>
                    <a:lstStyle/>
                    <a:p>
                      <a:r>
                        <a:rPr lang="en-US" sz="1800" b="0" dirty="0"/>
                        <a:t>Democratizes access to AI trading — removes dependency on expensive institutional infrastructure</a:t>
                      </a:r>
                    </a:p>
                  </a:txBody>
                  <a:tcPr anchor="ctr"/>
                </a:tc>
                <a:extLst>
                  <a:ext uri="{0D108BD9-81ED-4DB2-BD59-A6C34878D82A}">
                    <a16:rowId xmlns:a16="http://schemas.microsoft.com/office/drawing/2014/main" val="336816708"/>
                  </a:ext>
                </a:extLst>
              </a:tr>
              <a:tr h="891999">
                <a:tc>
                  <a:txBody>
                    <a:bodyPr/>
                    <a:lstStyle/>
                    <a:p>
                      <a:r>
                        <a:rPr lang="en-IN" sz="1800" b="1" dirty="0"/>
                        <a:t>Economic Productivity</a:t>
                      </a:r>
                    </a:p>
                  </a:txBody>
                  <a:tcPr anchor="ctr"/>
                </a:tc>
                <a:tc>
                  <a:txBody>
                    <a:bodyPr/>
                    <a:lstStyle/>
                    <a:p>
                      <a:r>
                        <a:rPr lang="en-IN" sz="1800" b="1" dirty="0"/>
                        <a:t>SDG 8.2</a:t>
                      </a:r>
                    </a:p>
                  </a:txBody>
                  <a:tcPr anchor="ctr"/>
                </a:tc>
                <a:tc>
                  <a:txBody>
                    <a:bodyPr/>
                    <a:lstStyle/>
                    <a:p>
                      <a:r>
                        <a:rPr lang="en-US" sz="1800" b="0" dirty="0"/>
                        <a:t>Self-correcting reward engineering eliminates human bottleneck in RL trading deployment</a:t>
                      </a:r>
                    </a:p>
                  </a:txBody>
                  <a:tcPr anchor="ctr"/>
                </a:tc>
                <a:extLst>
                  <a:ext uri="{0D108BD9-81ED-4DB2-BD59-A6C34878D82A}">
                    <a16:rowId xmlns:a16="http://schemas.microsoft.com/office/drawing/2014/main" val="1982053053"/>
                  </a:ext>
                </a:extLst>
              </a:tr>
              <a:tr h="891999">
                <a:tc>
                  <a:txBody>
                    <a:bodyPr/>
                    <a:lstStyle/>
                    <a:p>
                      <a:r>
                        <a:rPr lang="en-IN" sz="1800" b="1" dirty="0"/>
                        <a:t>Technology Innovation</a:t>
                      </a:r>
                    </a:p>
                  </a:txBody>
                  <a:tcPr anchor="ctr"/>
                </a:tc>
                <a:tc>
                  <a:txBody>
                    <a:bodyPr/>
                    <a:lstStyle/>
                    <a:p>
                      <a:r>
                        <a:rPr lang="en-US" sz="1800" b="1" dirty="0"/>
                        <a:t>SDG 9.5</a:t>
                      </a:r>
                    </a:p>
                  </a:txBody>
                  <a:tcPr anchor="ctr"/>
                </a:tc>
                <a:tc>
                  <a:txBody>
                    <a:bodyPr/>
                    <a:lstStyle/>
                    <a:p>
                      <a:r>
                        <a:rPr lang="en-US" sz="1800" b="0" dirty="0"/>
                        <a:t>Novel meta-RL reward engineering framework — first of its kind in financial AI literature</a:t>
                      </a:r>
                    </a:p>
                  </a:txBody>
                  <a:tcPr anchor="ctr"/>
                </a:tc>
                <a:extLst>
                  <a:ext uri="{0D108BD9-81ED-4DB2-BD59-A6C34878D82A}">
                    <a16:rowId xmlns:a16="http://schemas.microsoft.com/office/drawing/2014/main" val="4170812739"/>
                  </a:ext>
                </a:extLst>
              </a:tr>
              <a:tr h="891999">
                <a:tc>
                  <a:txBody>
                    <a:bodyPr/>
                    <a:lstStyle/>
                    <a:p>
                      <a:r>
                        <a:rPr lang="en-US" sz="1800" b="1" dirty="0">
                          <a:latin typeface="Times New Roman"/>
                        </a:rPr>
                        <a:t>Research Infrastructure</a:t>
                      </a:r>
                    </a:p>
                  </a:txBody>
                  <a:tcPr anchor="ctr"/>
                </a:tc>
                <a:tc>
                  <a:txBody>
                    <a:bodyPr/>
                    <a:lstStyle/>
                    <a:p>
                      <a:r>
                        <a:rPr lang="en-US" sz="1800" dirty="0">
                          <a:latin typeface="Times New Roman"/>
                        </a:rPr>
                        <a:t>SDG 9.b</a:t>
                      </a:r>
                    </a:p>
                  </a:txBody>
                  <a:tcPr anchor="ctr"/>
                </a:tc>
                <a:tc>
                  <a:txBody>
                    <a:bodyPr/>
                    <a:lstStyle/>
                    <a:p>
                      <a:r>
                        <a:rPr lang="en-US" sz="1800" dirty="0">
                          <a:latin typeface="Times New Roman"/>
                        </a:rPr>
                        <a:t>Open-source 14-module platform for AI-in-finance research, runs on standard CPU hardware</a:t>
                      </a:r>
                    </a:p>
                  </a:txBody>
                  <a:tcPr anchor="ctr"/>
                </a:tc>
                <a:extLst>
                  <a:ext uri="{0D108BD9-81ED-4DB2-BD59-A6C34878D82A}">
                    <a16:rowId xmlns:a16="http://schemas.microsoft.com/office/drawing/2014/main" val="1665029732"/>
                  </a:ext>
                </a:extLst>
              </a:tr>
              <a:tr h="847539">
                <a:tc>
                  <a:txBody>
                    <a:bodyPr/>
                    <a:lstStyle/>
                    <a:p>
                      <a:r>
                        <a:rPr lang="en-IN" sz="1800" b="1" dirty="0"/>
                        <a:t>Digital Innovation</a:t>
                      </a:r>
                    </a:p>
                  </a:txBody>
                  <a:tcPr anchor="ctr"/>
                </a:tc>
                <a:tc>
                  <a:txBody>
                    <a:bodyPr/>
                    <a:lstStyle/>
                    <a:p>
                      <a:r>
                        <a:rPr lang="en-US" sz="1800" b="1" dirty="0"/>
                        <a:t>SDG 9.c</a:t>
                      </a:r>
                    </a:p>
                  </a:txBody>
                  <a:tcPr anchor="ctr"/>
                </a:tc>
                <a:tc>
                  <a:txBody>
                    <a:bodyPr/>
                    <a:lstStyle/>
                    <a:p>
                      <a:r>
                        <a:rPr lang="en-US" sz="1800" b="0" dirty="0"/>
                        <a:t>Accessible AI development demonstrated on Windows 11 CPU — no cloud or GPU dependency</a:t>
                      </a:r>
                    </a:p>
                  </a:txBody>
                  <a:tcPr anchor="ctr"/>
                </a:tc>
                <a:extLst>
                  <a:ext uri="{0D108BD9-81ED-4DB2-BD59-A6C34878D82A}">
                    <a16:rowId xmlns:a16="http://schemas.microsoft.com/office/drawing/2014/main" val="815393544"/>
                  </a:ext>
                </a:extLst>
              </a:tr>
            </a:tbl>
          </a:graphicData>
        </a:graphic>
      </p:graphicFrame>
      <p:sp>
        <p:nvSpPr>
          <p:cNvPr id="8" name="TextBox 7">
            <a:extLst>
              <a:ext uri="{FF2B5EF4-FFF2-40B4-BE49-F238E27FC236}">
                <a16:creationId xmlns:a16="http://schemas.microsoft.com/office/drawing/2014/main" id="{B37D5F0D-3212-92AE-D8FE-947F5A02094D}"/>
              </a:ext>
            </a:extLst>
          </p:cNvPr>
          <p:cNvSpPr txBox="1"/>
          <p:nvPr/>
        </p:nvSpPr>
        <p:spPr>
          <a:xfrm>
            <a:off x="4421254" y="761740"/>
            <a:ext cx="3766930"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Summary</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3447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9ED99B-DBC5-4426-BBC6-8BBB2E2998D2}"/>
              </a:ext>
            </a:extLst>
          </p:cNvPr>
          <p:cNvSpPr txBox="1">
            <a:spLocks noChangeArrowheads="1"/>
          </p:cNvSpPr>
          <p:nvPr/>
        </p:nvSpPr>
        <p:spPr>
          <a:xfrm>
            <a:off x="1365795" y="0"/>
            <a:ext cx="10899092" cy="1033112"/>
          </a:xfrm>
          <a:prstGeom prst="rect">
            <a:avLst/>
          </a:prstGeom>
          <a:solidFill>
            <a:srgbClr val="C00000"/>
          </a:solidFill>
        </p:spPr>
        <p:txBody>
          <a:bodyPr/>
          <a:lstStyle/>
          <a:p>
            <a:pPr algn="ctr" fontAlgn="base"/>
            <a:r>
              <a:rPr lang="en-IN" sz="4000" b="1" dirty="0">
                <a:solidFill>
                  <a:schemeClr val="bg1"/>
                </a:solidFill>
                <a:latin typeface="Times New Roman" panose="02020603050405020304" pitchFamily="18" charset="0"/>
                <a:cs typeface="Times New Roman" panose="02020603050405020304" pitchFamily="18" charset="0"/>
              </a:rPr>
              <a:t>Problem Statement                                  </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A311BE22-15C4-49E9-92D6-1535F166D04E}"/>
              </a:ext>
            </a:extLst>
          </p:cNvPr>
          <p:cNvSpPr txBox="1">
            <a:spLocks noChangeArrowheads="1"/>
          </p:cNvSpPr>
          <p:nvPr/>
        </p:nvSpPr>
        <p:spPr>
          <a:xfrm>
            <a:off x="-1" y="6436129"/>
            <a:ext cx="12191997" cy="401782"/>
          </a:xfrm>
          <a:prstGeom prst="rect">
            <a:avLst/>
          </a:prstGeom>
          <a:solidFill>
            <a:srgbClr val="C00000"/>
          </a:solidFill>
        </p:spPr>
        <p:txBody>
          <a:bodyPr/>
          <a:lstStyle/>
          <a:p>
            <a:pPr>
              <a:lnSpc>
                <a:spcPct val="90000"/>
              </a:lnSpc>
              <a:spcBef>
                <a:spcPct val="0"/>
              </a:spcBef>
              <a:defRPr/>
            </a:pPr>
            <a:r>
              <a:rPr kumimoji="0" lang="en-IN" altLang="zh-CN" sz="2400" b="1" i="0" u="none" strike="noStrike" kern="1200" cap="none" spc="0" normalizeH="0" baseline="0" noProof="0" dirty="0">
                <a:ln>
                  <a:noFill/>
                </a:ln>
                <a:solidFill>
                  <a:schemeClr val="bg1"/>
                </a:solidFill>
                <a:effectLst/>
                <a:uLnTx/>
                <a:uFillTx/>
                <a:latin typeface="Tinos"/>
                <a:ea typeface="+mj-ea"/>
                <a:cs typeface="+mj-cs"/>
              </a:rPr>
              <a:t>          </a:t>
            </a:r>
            <a:r>
              <a:rPr lang="en-IN" sz="2400" b="1" dirty="0">
                <a:solidFill>
                  <a:schemeClr val="bg1"/>
                </a:solidFill>
              </a:rPr>
              <a:t>                                                     </a:t>
            </a:r>
            <a:endParaRPr lang="en-US" sz="2400" b="1" dirty="0">
              <a:solidFill>
                <a:schemeClr val="bg1"/>
              </a:solidFill>
            </a:endParaRPr>
          </a:p>
          <a:p>
            <a:pPr>
              <a:lnSpc>
                <a:spcPct val="90000"/>
              </a:lnSpc>
              <a:spcBef>
                <a:spcPct val="0"/>
              </a:spcBef>
              <a:defRPr/>
            </a:pPr>
            <a:endParaRPr lang="zh-CN" altLang="en-US" sz="2400" b="1" dirty="0">
              <a:solidFill>
                <a:schemeClr val="bg1"/>
              </a:solidFill>
              <a:latin typeface="Tinos"/>
            </a:endParaRPr>
          </a:p>
          <a:p>
            <a:pPr lvl="0">
              <a:lnSpc>
                <a:spcPct val="90000"/>
              </a:lnSpc>
              <a:spcBef>
                <a:spcPct val="0"/>
              </a:spcBef>
              <a:defRPr/>
            </a:pPr>
            <a:endParaRPr kumimoji="0" lang="en-IN" altLang="zh-CN" sz="2400" b="1" i="0" u="none" strike="noStrike" kern="1200" cap="none" spc="0" normalizeH="0" baseline="0" noProof="0" dirty="0">
              <a:ln>
                <a:noFill/>
              </a:ln>
              <a:solidFill>
                <a:schemeClr val="bg1"/>
              </a:solidFill>
              <a:effectLst/>
              <a:uLnTx/>
              <a:uFillTx/>
              <a:latin typeface="Tinos"/>
              <a:ea typeface="+mj-ea"/>
              <a:cs typeface="+mj-cs"/>
            </a:endParaRPr>
          </a:p>
        </p:txBody>
      </p:sp>
      <p:pic>
        <p:nvPicPr>
          <p:cNvPr id="1028" name="Picture 4" descr="https://galgotiacollege.edu/public/uploads/all/3106/phelosophy.jpeg">
            <a:extLst>
              <a:ext uri="{FF2B5EF4-FFF2-40B4-BE49-F238E27FC236}">
                <a16:creationId xmlns:a16="http://schemas.microsoft.com/office/drawing/2014/main" id="{A8415EEE-B85B-444D-966E-2290962AA0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453"/>
            <a:ext cx="1504949" cy="103311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E8C9981-57F3-2EF4-B038-D347005EAE7D}"/>
              </a:ext>
            </a:extLst>
          </p:cNvPr>
          <p:cNvSpPr txBox="1"/>
          <p:nvPr/>
        </p:nvSpPr>
        <p:spPr>
          <a:xfrm>
            <a:off x="8165427" y="5580992"/>
            <a:ext cx="4026569" cy="646331"/>
          </a:xfrm>
          <a:prstGeom prst="rect">
            <a:avLst/>
          </a:prstGeom>
          <a:noFill/>
        </p:spPr>
        <p:txBody>
          <a:bodyPr wrap="square" rtlCol="0">
            <a:spAutoFit/>
          </a:bodyPr>
          <a:lstStyle/>
          <a:p>
            <a:r>
              <a:rPr lang="en-IN" dirty="0"/>
              <a:t>The Reward Engineering Bottleneck in RL Trading</a:t>
            </a:r>
          </a:p>
        </p:txBody>
      </p:sp>
      <p:pic>
        <p:nvPicPr>
          <p:cNvPr id="4" name="Picture 3">
            <a:extLst>
              <a:ext uri="{FF2B5EF4-FFF2-40B4-BE49-F238E27FC236}">
                <a16:creationId xmlns:a16="http://schemas.microsoft.com/office/drawing/2014/main" id="{A4F94FB5-9FCD-3198-5C46-FC3E90FAF3AC}"/>
              </a:ext>
            </a:extLst>
          </p:cNvPr>
          <p:cNvPicPr>
            <a:picLocks noChangeAspect="1"/>
          </p:cNvPicPr>
          <p:nvPr/>
        </p:nvPicPr>
        <p:blipFill>
          <a:blip r:embed="rId3"/>
          <a:stretch>
            <a:fillRect/>
          </a:stretch>
        </p:blipFill>
        <p:spPr>
          <a:xfrm>
            <a:off x="7347006" y="1137643"/>
            <a:ext cx="4716541" cy="4338818"/>
          </a:xfrm>
          <a:prstGeom prst="rect">
            <a:avLst/>
          </a:prstGeom>
          <a:ln w="19050">
            <a:solidFill>
              <a:schemeClr val="tx1"/>
            </a:solidFill>
          </a:ln>
        </p:spPr>
      </p:pic>
      <p:sp>
        <p:nvSpPr>
          <p:cNvPr id="10" name="TextBox 9">
            <a:extLst>
              <a:ext uri="{FF2B5EF4-FFF2-40B4-BE49-F238E27FC236}">
                <a16:creationId xmlns:a16="http://schemas.microsoft.com/office/drawing/2014/main" id="{3ADFF5F6-9D82-A09C-2C5F-2DFE0FA5AB6F}"/>
              </a:ext>
            </a:extLst>
          </p:cNvPr>
          <p:cNvSpPr txBox="1"/>
          <p:nvPr/>
        </p:nvSpPr>
        <p:spPr>
          <a:xfrm>
            <a:off x="219893" y="1356691"/>
            <a:ext cx="6906463" cy="2893100"/>
          </a:xfrm>
          <a:prstGeom prst="rect">
            <a:avLst/>
          </a:prstGeom>
          <a:noFill/>
        </p:spPr>
        <p:txBody>
          <a:bodyPr wrap="square" rtlCol="0">
            <a:spAutoFit/>
          </a:bodyPr>
          <a:lstStyle/>
          <a:p>
            <a:pPr marL="285750" indent="-285750" algn="just">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RL trading agents require a reward function designed by a human expert before training begins — encoding intuitions about profit, risk, and trading behavior.</a:t>
            </a:r>
          </a:p>
          <a:p>
            <a:pPr marL="285750" indent="-285750" algn="just">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When the agent fails (panic selling, overtrading, holding losing positions), the engineer must: halt training, manually read episode logs, diagnose the failure, adjust reward weights, and restart - a process that can take days.</a:t>
            </a:r>
          </a:p>
          <a:p>
            <a:pPr marL="285750" indent="-285750" algn="just">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This bottleneck means RL trading systems cannot adapt to changing market conditions without constant human supervision.</a:t>
            </a:r>
          </a:p>
          <a:p>
            <a:pPr marL="285750" indent="-285750" algn="just">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No existing tool automatically diagnoses WHY an RL agent failed at the trajectory level AND learns a reward correction policy from that diagnosis.</a:t>
            </a:r>
          </a:p>
          <a:p>
            <a:pPr marL="285750" indent="-285750" algn="just">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The consequence: RL trading research is slower, more expensive, and more dependent on domain expertise than it needs to be.</a:t>
            </a:r>
          </a:p>
          <a:p>
            <a:pPr marL="285750" indent="-285750" algn="just">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ARTEMIS solves this by making the reward engineering loop fully autonomous - diagnosis → fix → retrain → evaluate - without human intervention.</a:t>
            </a:r>
          </a:p>
        </p:txBody>
      </p:sp>
    </p:spTree>
    <p:extLst>
      <p:ext uri="{BB962C8B-B14F-4D97-AF65-F5344CB8AC3E}">
        <p14:creationId xmlns:p14="http://schemas.microsoft.com/office/powerpoint/2010/main" val="2499631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9ED99B-DBC5-4426-BBC6-8BBB2E2998D2}"/>
              </a:ext>
            </a:extLst>
          </p:cNvPr>
          <p:cNvSpPr txBox="1">
            <a:spLocks noChangeArrowheads="1"/>
          </p:cNvSpPr>
          <p:nvPr/>
        </p:nvSpPr>
        <p:spPr>
          <a:xfrm>
            <a:off x="1504949" y="-1"/>
            <a:ext cx="10687051" cy="904461"/>
          </a:xfrm>
          <a:prstGeom prst="rect">
            <a:avLst/>
          </a:prstGeom>
          <a:solidFill>
            <a:srgbClr val="C00000"/>
          </a:solidFill>
        </p:spPr>
        <p:txBody>
          <a:bodyPr/>
          <a:lstStyle/>
          <a:p>
            <a:pPr algn="ctr" fontAlgn="base"/>
            <a:r>
              <a:rPr lang="en-IN" sz="4000" b="1" dirty="0">
                <a:solidFill>
                  <a:schemeClr val="bg1"/>
                </a:solidFill>
                <a:latin typeface="Times New Roman" panose="02020603050405020304" pitchFamily="18" charset="0"/>
                <a:cs typeface="Times New Roman" panose="02020603050405020304" pitchFamily="18" charset="0"/>
              </a:rPr>
              <a:t>Literature Survey                                 </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A311BE22-15C4-49E9-92D6-1535F166D04E}"/>
              </a:ext>
            </a:extLst>
          </p:cNvPr>
          <p:cNvSpPr txBox="1">
            <a:spLocks noChangeArrowheads="1"/>
          </p:cNvSpPr>
          <p:nvPr/>
        </p:nvSpPr>
        <p:spPr>
          <a:xfrm>
            <a:off x="-1" y="6400800"/>
            <a:ext cx="12191997" cy="437111"/>
          </a:xfrm>
          <a:prstGeom prst="rect">
            <a:avLst/>
          </a:prstGeom>
          <a:solidFill>
            <a:srgbClr val="C00000"/>
          </a:solidFill>
        </p:spPr>
        <p:txBody>
          <a:bodyPr/>
          <a:lstStyle/>
          <a:p>
            <a:pPr>
              <a:lnSpc>
                <a:spcPct val="90000"/>
              </a:lnSpc>
              <a:spcBef>
                <a:spcPct val="0"/>
              </a:spcBef>
              <a:defRPr/>
            </a:pPr>
            <a:r>
              <a:rPr kumimoji="0" lang="en-IN" altLang="zh-CN" sz="2400" b="1" i="0" u="none" strike="noStrike" kern="1200" cap="none" spc="0" normalizeH="0" baseline="0" noProof="0" dirty="0">
                <a:ln>
                  <a:noFill/>
                </a:ln>
                <a:solidFill>
                  <a:schemeClr val="bg1"/>
                </a:solidFill>
                <a:effectLst/>
                <a:uLnTx/>
                <a:uFillTx/>
                <a:latin typeface="Tinos"/>
                <a:ea typeface="+mj-ea"/>
                <a:cs typeface="+mj-cs"/>
              </a:rPr>
              <a:t>          </a:t>
            </a:r>
            <a:r>
              <a:rPr lang="en-IN" sz="2400" b="1" dirty="0">
                <a:solidFill>
                  <a:schemeClr val="bg1"/>
                </a:solidFill>
              </a:rPr>
              <a:t>                                                      </a:t>
            </a:r>
            <a:endParaRPr lang="en-US" sz="2400" b="1" dirty="0">
              <a:solidFill>
                <a:schemeClr val="bg1"/>
              </a:solidFill>
            </a:endParaRPr>
          </a:p>
        </p:txBody>
      </p:sp>
      <p:sp>
        <p:nvSpPr>
          <p:cNvPr id="6" name="TextBox 5">
            <a:extLst>
              <a:ext uri="{FF2B5EF4-FFF2-40B4-BE49-F238E27FC236}">
                <a16:creationId xmlns:a16="http://schemas.microsoft.com/office/drawing/2014/main" id="{7938415B-9138-40A8-9E17-54906A209D78}"/>
              </a:ext>
            </a:extLst>
          </p:cNvPr>
          <p:cNvSpPr txBox="1"/>
          <p:nvPr/>
        </p:nvSpPr>
        <p:spPr>
          <a:xfrm>
            <a:off x="1388993" y="1033111"/>
            <a:ext cx="10687051" cy="2800767"/>
          </a:xfrm>
          <a:prstGeom prst="rect">
            <a:avLst/>
          </a:prstGeom>
          <a:noFill/>
        </p:spPr>
        <p:txBody>
          <a:bodyPr wrap="square">
            <a:spAutoFit/>
          </a:bodyPr>
          <a:lstStyle/>
          <a:p>
            <a:pPr marL="285750" indent="-285750"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Schulman, J., et al. (2017). Proximal Policy Optimization Algorithms. arXiv:1707.06347. PPO provides stable policy gradient updates for RL agents. Widely used in trading. Limitation: requires hand-crafted, static reward functions that don’t adapt when markets change.</a:t>
            </a:r>
          </a:p>
          <a:p>
            <a:pPr algn="just"/>
            <a:endParaRPr lang="en-US" sz="16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Hochreiter, S., &amp; Schmidhuber, J. (1997). Long Short-Term Memory. Neural Computation, 9(8), 1735–1780. LSTM captures long-range temporal dependencies - ideal for reading full 252-day trading episode trajectories to classify failure modes. ARTEMIS adds multi-head self-attention on top.</a:t>
            </a:r>
          </a:p>
          <a:p>
            <a:pPr algn="just"/>
            <a:endParaRPr lang="en-US" sz="16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Ma, Y., et al. (2023). Eureka: Human-Level Reward Design via Coding Large Language Models. arXiv:2310.12931. Uses GPT-4 to write reward code from environment descriptions. Requires LLM API access at runtime and code generation ability. ARTEMIS instead learns adjustments from trajectory evidence - no LLM dependency after setup.</a:t>
            </a:r>
          </a:p>
        </p:txBody>
      </p:sp>
      <p:pic>
        <p:nvPicPr>
          <p:cNvPr id="1028" name="Picture 4" descr="https://galgotiacollege.edu/public/uploads/all/3106/phelosophy.jpeg">
            <a:extLst>
              <a:ext uri="{FF2B5EF4-FFF2-40B4-BE49-F238E27FC236}">
                <a16:creationId xmlns:a16="http://schemas.microsoft.com/office/drawing/2014/main" id="{A8415EEE-B85B-444D-966E-2290962AA0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453"/>
            <a:ext cx="1504949" cy="1033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7965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74FC9-3847-079B-0CE8-B846AD8F6312}"/>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A52E9CC6-A851-10AD-375C-DBA2BF46CACE}"/>
              </a:ext>
            </a:extLst>
          </p:cNvPr>
          <p:cNvSpPr txBox="1">
            <a:spLocks noChangeArrowheads="1"/>
          </p:cNvSpPr>
          <p:nvPr/>
        </p:nvSpPr>
        <p:spPr>
          <a:xfrm>
            <a:off x="1504949" y="-1"/>
            <a:ext cx="10687051" cy="884583"/>
          </a:xfrm>
          <a:prstGeom prst="rect">
            <a:avLst/>
          </a:prstGeom>
          <a:solidFill>
            <a:srgbClr val="C00000"/>
          </a:solidFill>
        </p:spPr>
        <p:txBody>
          <a:bodyPr/>
          <a:lstStyle/>
          <a:p>
            <a:pPr algn="ctr" fontAlgn="base"/>
            <a:r>
              <a:rPr lang="en-IN" sz="4000" b="1" dirty="0">
                <a:solidFill>
                  <a:schemeClr val="bg1"/>
                </a:solidFill>
                <a:latin typeface="Times New Roman" panose="02020603050405020304" pitchFamily="18" charset="0"/>
                <a:cs typeface="Times New Roman" panose="02020603050405020304" pitchFamily="18" charset="0"/>
              </a:rPr>
              <a:t>Literature Survey </a:t>
            </a:r>
            <a:r>
              <a:rPr lang="en-IN" sz="4000" b="1" dirty="0" err="1">
                <a:solidFill>
                  <a:schemeClr val="bg1"/>
                </a:solidFill>
                <a:latin typeface="Times New Roman" panose="02020603050405020304" pitchFamily="18" charset="0"/>
                <a:cs typeface="Times New Roman" panose="02020603050405020304" pitchFamily="18" charset="0"/>
              </a:rPr>
              <a:t>Contd</a:t>
            </a:r>
            <a:r>
              <a:rPr lang="en-IN" sz="4000" b="1" dirty="0">
                <a:solidFill>
                  <a:schemeClr val="bg1"/>
                </a:solidFill>
                <a:latin typeface="Times New Roman" panose="02020603050405020304" pitchFamily="18" charset="0"/>
                <a:cs typeface="Times New Roman" panose="02020603050405020304" pitchFamily="18" charset="0"/>
              </a:rPr>
              <a:t>…                                 </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F3C42725-4D94-1506-AFC8-D62AB1FFAE67}"/>
              </a:ext>
            </a:extLst>
          </p:cNvPr>
          <p:cNvSpPr txBox="1">
            <a:spLocks noChangeArrowheads="1"/>
          </p:cNvSpPr>
          <p:nvPr/>
        </p:nvSpPr>
        <p:spPr>
          <a:xfrm>
            <a:off x="-1" y="6361043"/>
            <a:ext cx="12191997" cy="476868"/>
          </a:xfrm>
          <a:prstGeom prst="rect">
            <a:avLst/>
          </a:prstGeom>
          <a:solidFill>
            <a:srgbClr val="C00000"/>
          </a:solidFill>
        </p:spPr>
        <p:txBody>
          <a:bodyPr/>
          <a:lstStyle/>
          <a:p>
            <a:pPr>
              <a:lnSpc>
                <a:spcPct val="90000"/>
              </a:lnSpc>
              <a:spcBef>
                <a:spcPct val="0"/>
              </a:spcBef>
              <a:defRPr/>
            </a:pPr>
            <a:r>
              <a:rPr kumimoji="0" lang="en-IN" altLang="zh-CN" sz="2400" b="1" i="0" u="none" strike="noStrike" kern="1200" cap="none" spc="0" normalizeH="0" baseline="0" noProof="0" dirty="0">
                <a:ln>
                  <a:noFill/>
                </a:ln>
                <a:solidFill>
                  <a:schemeClr val="bg1"/>
                </a:solidFill>
                <a:effectLst/>
                <a:uLnTx/>
                <a:uFillTx/>
                <a:latin typeface="Tinos"/>
                <a:ea typeface="+mj-ea"/>
                <a:cs typeface="+mj-cs"/>
              </a:rPr>
              <a:t>          </a:t>
            </a:r>
            <a:r>
              <a:rPr lang="en-IN" sz="2400" b="1" dirty="0">
                <a:solidFill>
                  <a:schemeClr val="bg1"/>
                </a:solidFill>
              </a:rPr>
              <a:t>                                                      </a:t>
            </a:r>
            <a:endParaRPr lang="en-US" sz="2400" b="1" dirty="0">
              <a:solidFill>
                <a:schemeClr val="bg1"/>
              </a:solidFill>
            </a:endParaRPr>
          </a:p>
        </p:txBody>
      </p:sp>
      <p:pic>
        <p:nvPicPr>
          <p:cNvPr id="1028" name="Picture 4" descr="https://galgotiacollege.edu/public/uploads/all/3106/phelosophy.jpeg">
            <a:extLst>
              <a:ext uri="{FF2B5EF4-FFF2-40B4-BE49-F238E27FC236}">
                <a16:creationId xmlns:a16="http://schemas.microsoft.com/office/drawing/2014/main" id="{1E8598F6-01B3-FD27-3AAF-F7397EBF4C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453"/>
            <a:ext cx="1504949" cy="103311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2032AC0-AE5A-E0D8-AC4C-6150323A934F}"/>
              </a:ext>
            </a:extLst>
          </p:cNvPr>
          <p:cNvSpPr txBox="1"/>
          <p:nvPr/>
        </p:nvSpPr>
        <p:spPr>
          <a:xfrm>
            <a:off x="1504949" y="877511"/>
            <a:ext cx="10590972" cy="2585323"/>
          </a:xfrm>
          <a:prstGeom prst="rect">
            <a:avLst/>
          </a:prstGeom>
          <a:noFill/>
        </p:spPr>
        <p:txBody>
          <a:bodyPr wrap="square">
            <a:spAutoFit/>
          </a:bodyPr>
          <a:lstStyle/>
          <a:p>
            <a:pPr marL="285750" indent="-285750"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Liu, X. Y., et al. (2022). FinRL: Deep Reinforcement Learning Framework to Automate Trading in Quantitative Finance. ACM ICAIF 2022. Open-source RL trading framework with multiple algorithms. Uses fixed hand-coded rewards — no self-correction capability. ARTEMIS adds a learned reward engineering layer on top of this class of frameworks.</a:t>
            </a:r>
          </a:p>
          <a:p>
            <a:pPr algn="just"/>
            <a:endParaRPr lang="en-US" sz="18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Haarnoja, T., et al. (2018). Soft Actor-Critic: Off-Policy Maximum Entropy Deep Reinforcement Learning with a Stochastic Actor. ICML 2018. SAC is sample-efficient for continuous action spaces with entropy regularisation. ARTEMIS uses SAC for the meta-policy that outputs continuous delta adjustments to 6 reward weights — ideal because meta-episodes are short and SAC’s replay buffer maximizes data efficiency.</a:t>
            </a:r>
          </a:p>
        </p:txBody>
      </p:sp>
    </p:spTree>
    <p:extLst>
      <p:ext uri="{BB962C8B-B14F-4D97-AF65-F5344CB8AC3E}">
        <p14:creationId xmlns:p14="http://schemas.microsoft.com/office/powerpoint/2010/main" val="1450828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2E0B7-2A0A-BE84-44F0-564256E12EEC}"/>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D1AE58A8-F02D-8752-1DED-4D468732B768}"/>
              </a:ext>
            </a:extLst>
          </p:cNvPr>
          <p:cNvSpPr txBox="1">
            <a:spLocks noChangeArrowheads="1"/>
          </p:cNvSpPr>
          <p:nvPr/>
        </p:nvSpPr>
        <p:spPr>
          <a:xfrm>
            <a:off x="1504949" y="0"/>
            <a:ext cx="10687051" cy="894522"/>
          </a:xfrm>
          <a:prstGeom prst="rect">
            <a:avLst/>
          </a:prstGeom>
          <a:solidFill>
            <a:srgbClr val="C00000"/>
          </a:solidFill>
        </p:spPr>
        <p:txBody>
          <a:bodyPr/>
          <a:lstStyle/>
          <a:p>
            <a:pPr algn="ctr" fontAlgn="base"/>
            <a:r>
              <a:rPr lang="en-IN" sz="4000" b="1" dirty="0">
                <a:solidFill>
                  <a:schemeClr val="bg1"/>
                </a:solidFill>
                <a:latin typeface="Times New Roman" panose="02020603050405020304" pitchFamily="18" charset="0"/>
                <a:cs typeface="Times New Roman" panose="02020603050405020304" pitchFamily="18" charset="0"/>
              </a:rPr>
              <a:t>Literature Survey </a:t>
            </a:r>
            <a:r>
              <a:rPr lang="en-IN" sz="4000" b="1" dirty="0" err="1">
                <a:solidFill>
                  <a:schemeClr val="bg1"/>
                </a:solidFill>
                <a:latin typeface="Times New Roman" panose="02020603050405020304" pitchFamily="18" charset="0"/>
                <a:cs typeface="Times New Roman" panose="02020603050405020304" pitchFamily="18" charset="0"/>
              </a:rPr>
              <a:t>Contd</a:t>
            </a:r>
            <a:r>
              <a:rPr lang="en-IN" sz="4000" b="1" dirty="0">
                <a:solidFill>
                  <a:schemeClr val="bg1"/>
                </a:solidFill>
                <a:latin typeface="Times New Roman" panose="02020603050405020304" pitchFamily="18" charset="0"/>
                <a:cs typeface="Times New Roman" panose="02020603050405020304" pitchFamily="18" charset="0"/>
              </a:rPr>
              <a:t>…                                 </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C94986D0-54B3-668F-62B3-95F548967AFD}"/>
              </a:ext>
            </a:extLst>
          </p:cNvPr>
          <p:cNvSpPr txBox="1">
            <a:spLocks noChangeArrowheads="1"/>
          </p:cNvSpPr>
          <p:nvPr/>
        </p:nvSpPr>
        <p:spPr>
          <a:xfrm>
            <a:off x="0" y="6381132"/>
            <a:ext cx="12191997" cy="476868"/>
          </a:xfrm>
          <a:prstGeom prst="rect">
            <a:avLst/>
          </a:prstGeom>
          <a:solidFill>
            <a:srgbClr val="C00000"/>
          </a:solidFill>
        </p:spPr>
        <p:txBody>
          <a:bodyPr/>
          <a:lstStyle/>
          <a:p>
            <a:pPr>
              <a:lnSpc>
                <a:spcPct val="90000"/>
              </a:lnSpc>
              <a:spcBef>
                <a:spcPct val="0"/>
              </a:spcBef>
              <a:defRPr/>
            </a:pPr>
            <a:r>
              <a:rPr kumimoji="0" lang="en-IN" altLang="zh-CN" sz="2400" b="1" i="0" u="none" strike="noStrike" kern="1200" cap="none" spc="0" normalizeH="0" baseline="0" noProof="0" dirty="0">
                <a:ln>
                  <a:noFill/>
                </a:ln>
                <a:solidFill>
                  <a:schemeClr val="bg1"/>
                </a:solidFill>
                <a:effectLst/>
                <a:uLnTx/>
                <a:uFillTx/>
                <a:latin typeface="Tinos"/>
                <a:ea typeface="+mj-ea"/>
                <a:cs typeface="+mj-cs"/>
              </a:rPr>
              <a:t>          </a:t>
            </a:r>
            <a:r>
              <a:rPr lang="en-IN" sz="2400" b="1" dirty="0">
                <a:solidFill>
                  <a:schemeClr val="bg1"/>
                </a:solidFill>
              </a:rPr>
              <a:t>                                                      </a:t>
            </a:r>
            <a:endParaRPr lang="en-US" sz="2400" b="1" dirty="0">
              <a:solidFill>
                <a:schemeClr val="bg1"/>
              </a:solidFill>
            </a:endParaRPr>
          </a:p>
        </p:txBody>
      </p:sp>
      <p:pic>
        <p:nvPicPr>
          <p:cNvPr id="1028" name="Picture 4" descr="https://galgotiacollege.edu/public/uploads/all/3106/phelosophy.jpeg">
            <a:extLst>
              <a:ext uri="{FF2B5EF4-FFF2-40B4-BE49-F238E27FC236}">
                <a16:creationId xmlns:a16="http://schemas.microsoft.com/office/drawing/2014/main" id="{8AAD0B7E-3252-13C6-5B6D-B6279BACD7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453"/>
            <a:ext cx="1504949" cy="103311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D3EF44B-2E29-0E0E-2BDB-9B06399E7A6D}"/>
              </a:ext>
            </a:extLst>
          </p:cNvPr>
          <p:cNvSpPr txBox="1"/>
          <p:nvPr/>
        </p:nvSpPr>
        <p:spPr>
          <a:xfrm>
            <a:off x="1504949" y="1033112"/>
            <a:ext cx="10203347" cy="2862322"/>
          </a:xfrm>
          <a:prstGeom prst="rect">
            <a:avLst/>
          </a:prstGeom>
          <a:noFill/>
        </p:spPr>
        <p:txBody>
          <a:bodyPr wrap="square">
            <a:spAutoFit/>
          </a:bodyPr>
          <a:lstStyle/>
          <a:p>
            <a:pPr marL="285750" indent="-28575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Finn, C., Abbeel, P., &amp; Levine, S. (2017). Model-Agnostic Meta-Learning for Fast Adaptation of Deep Networks. ICML 2017. MAML demonstrates that meta-learning over RL problems is achievable. ARTEMIS applies meta-RL specifically to reward engineering — the outer SAC agent learns reward parameters rather than policy parameters, a distinct and novel formulation.</a:t>
            </a:r>
          </a:p>
          <a:p>
            <a:pPr algn="just"/>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Across all six papers, one gap stands out: no prior work closes the loop between diagnosing an RL trading failure and automatically learning a reward-correction policy. ARTEMIS combines the LSTM-based diagnosis of Hochreiter &amp; Schmidhuber and the SAC meta-policy of Haarnoja to close that loop.</a:t>
            </a:r>
          </a:p>
        </p:txBody>
      </p:sp>
    </p:spTree>
    <p:extLst>
      <p:ext uri="{BB962C8B-B14F-4D97-AF65-F5344CB8AC3E}">
        <p14:creationId xmlns:p14="http://schemas.microsoft.com/office/powerpoint/2010/main" val="3346283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0F79E-E49B-50CD-BBEA-75889309864A}"/>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D637F3FB-B18F-5043-E836-921560547FF8}"/>
              </a:ext>
            </a:extLst>
          </p:cNvPr>
          <p:cNvSpPr txBox="1">
            <a:spLocks noChangeArrowheads="1"/>
          </p:cNvSpPr>
          <p:nvPr/>
        </p:nvSpPr>
        <p:spPr>
          <a:xfrm>
            <a:off x="1504949" y="0"/>
            <a:ext cx="10687051" cy="536713"/>
          </a:xfrm>
          <a:prstGeom prst="rect">
            <a:avLst/>
          </a:prstGeom>
          <a:solidFill>
            <a:srgbClr val="C00000"/>
          </a:solidFill>
        </p:spPr>
        <p:txBody>
          <a:bodyPr/>
          <a:lstStyle/>
          <a:p>
            <a:pPr algn="ctr" fontAlgn="base"/>
            <a:r>
              <a:rPr lang="en-IN" sz="3200" b="1" dirty="0">
                <a:solidFill>
                  <a:schemeClr val="bg1"/>
                </a:solidFill>
                <a:latin typeface="Times New Roman" panose="02020603050405020304" pitchFamily="18" charset="0"/>
                <a:cs typeface="Times New Roman" panose="02020603050405020304" pitchFamily="18" charset="0"/>
              </a:rPr>
              <a:t>Literature Survey </a:t>
            </a:r>
            <a:r>
              <a:rPr lang="en-IN" sz="3200" b="1" dirty="0" err="1">
                <a:solidFill>
                  <a:schemeClr val="bg1"/>
                </a:solidFill>
                <a:latin typeface="Times New Roman" panose="02020603050405020304" pitchFamily="18" charset="0"/>
                <a:cs typeface="Times New Roman" panose="02020603050405020304" pitchFamily="18" charset="0"/>
              </a:rPr>
              <a:t>Contd</a:t>
            </a:r>
            <a:r>
              <a:rPr lang="en-IN" sz="3200" b="1" dirty="0">
                <a:solidFill>
                  <a:schemeClr val="bg1"/>
                </a:solidFill>
                <a:latin typeface="Times New Roman" panose="02020603050405020304" pitchFamily="18" charset="0"/>
                <a:cs typeface="Times New Roman" panose="02020603050405020304" pitchFamily="18" charset="0"/>
              </a:rPr>
              <a:t>…                                 </a:t>
            </a:r>
            <a:endParaRPr lang="en-IN" sz="3200" dirty="0">
              <a:solidFill>
                <a:schemeClr val="bg1"/>
              </a:solidFill>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FB2A21A3-22A0-5A78-5488-206AF27F9A47}"/>
              </a:ext>
            </a:extLst>
          </p:cNvPr>
          <p:cNvSpPr txBox="1">
            <a:spLocks noChangeArrowheads="1"/>
          </p:cNvSpPr>
          <p:nvPr/>
        </p:nvSpPr>
        <p:spPr>
          <a:xfrm>
            <a:off x="-1" y="6639117"/>
            <a:ext cx="12191997" cy="198794"/>
          </a:xfrm>
          <a:prstGeom prst="rect">
            <a:avLst/>
          </a:prstGeom>
          <a:solidFill>
            <a:srgbClr val="C00000"/>
          </a:solidFill>
        </p:spPr>
        <p:txBody>
          <a:bodyPr/>
          <a:lstStyle/>
          <a:p>
            <a:pPr>
              <a:lnSpc>
                <a:spcPct val="90000"/>
              </a:lnSpc>
              <a:spcBef>
                <a:spcPct val="0"/>
              </a:spcBef>
              <a:defRPr/>
            </a:pPr>
            <a:r>
              <a:rPr kumimoji="0" lang="en-IN" altLang="zh-CN" sz="2400" b="1" i="0" u="none" strike="noStrike" kern="1200" cap="none" spc="0" normalizeH="0" baseline="0" noProof="0" dirty="0">
                <a:ln>
                  <a:noFill/>
                </a:ln>
                <a:solidFill>
                  <a:schemeClr val="bg1"/>
                </a:solidFill>
                <a:effectLst/>
                <a:uLnTx/>
                <a:uFillTx/>
                <a:latin typeface="Tinos"/>
                <a:ea typeface="+mj-ea"/>
                <a:cs typeface="+mj-cs"/>
              </a:rPr>
              <a:t>          </a:t>
            </a:r>
            <a:r>
              <a:rPr lang="en-IN" sz="2400" b="1" dirty="0">
                <a:solidFill>
                  <a:schemeClr val="bg1"/>
                </a:solidFill>
              </a:rPr>
              <a:t>                                                      </a:t>
            </a:r>
            <a:endParaRPr lang="en-US" sz="2400" b="1" dirty="0">
              <a:solidFill>
                <a:schemeClr val="bg1"/>
              </a:solidFill>
            </a:endParaRPr>
          </a:p>
        </p:txBody>
      </p:sp>
      <p:pic>
        <p:nvPicPr>
          <p:cNvPr id="1028" name="Picture 4" descr="https://galgotiacollege.edu/public/uploads/all/3106/phelosophy.jpeg">
            <a:extLst>
              <a:ext uri="{FF2B5EF4-FFF2-40B4-BE49-F238E27FC236}">
                <a16:creationId xmlns:a16="http://schemas.microsoft.com/office/drawing/2014/main" id="{86D058BA-8431-8600-D0E3-691477E920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453"/>
            <a:ext cx="1504949" cy="103311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5D444107-9718-84F9-8F60-60245A4E5C9E}"/>
              </a:ext>
            </a:extLst>
          </p:cNvPr>
          <p:cNvPicPr>
            <a:picLocks noChangeAspect="1"/>
          </p:cNvPicPr>
          <p:nvPr/>
        </p:nvPicPr>
        <p:blipFill>
          <a:blip r:embed="rId3"/>
          <a:stretch>
            <a:fillRect/>
          </a:stretch>
        </p:blipFill>
        <p:spPr>
          <a:xfrm>
            <a:off x="1504949" y="601317"/>
            <a:ext cx="10132864" cy="6037800"/>
          </a:xfrm>
          <a:prstGeom prst="rect">
            <a:avLst/>
          </a:prstGeom>
          <a:ln w="19050">
            <a:solidFill>
              <a:schemeClr val="tx1"/>
            </a:solidFill>
          </a:ln>
        </p:spPr>
      </p:pic>
    </p:spTree>
    <p:extLst>
      <p:ext uri="{BB962C8B-B14F-4D97-AF65-F5344CB8AC3E}">
        <p14:creationId xmlns:p14="http://schemas.microsoft.com/office/powerpoint/2010/main" val="1982358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8E2CD-CA66-F525-2226-012AC3CEB99E}"/>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6CC47D7A-E79F-7779-43B9-2A2CA7B318F1}"/>
              </a:ext>
            </a:extLst>
          </p:cNvPr>
          <p:cNvSpPr txBox="1">
            <a:spLocks noChangeArrowheads="1"/>
          </p:cNvSpPr>
          <p:nvPr/>
        </p:nvSpPr>
        <p:spPr>
          <a:xfrm>
            <a:off x="1504949" y="-22929"/>
            <a:ext cx="10687051" cy="1033112"/>
          </a:xfrm>
          <a:prstGeom prst="rect">
            <a:avLst/>
          </a:prstGeom>
          <a:solidFill>
            <a:srgbClr val="C00000"/>
          </a:solidFill>
        </p:spPr>
        <p:txBody>
          <a:bodyPr/>
          <a:lstStyle/>
          <a:p>
            <a:pPr algn="ctr" fontAlgn="base"/>
            <a:r>
              <a:rPr lang="en-IN" sz="4000" b="1" dirty="0">
                <a:solidFill>
                  <a:schemeClr val="bg1"/>
                </a:solidFill>
                <a:latin typeface="Times New Roman" panose="02020603050405020304" pitchFamily="18" charset="0"/>
                <a:cs typeface="Times New Roman" panose="02020603050405020304" pitchFamily="18" charset="0"/>
              </a:rPr>
              <a:t>Research Gap                                 </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9CFE5171-A693-C759-3578-9A5D973177EE}"/>
              </a:ext>
            </a:extLst>
          </p:cNvPr>
          <p:cNvSpPr txBox="1">
            <a:spLocks noChangeArrowheads="1"/>
          </p:cNvSpPr>
          <p:nvPr/>
        </p:nvSpPr>
        <p:spPr>
          <a:xfrm>
            <a:off x="-1" y="6436129"/>
            <a:ext cx="12191997" cy="401782"/>
          </a:xfrm>
          <a:prstGeom prst="rect">
            <a:avLst/>
          </a:prstGeom>
          <a:solidFill>
            <a:srgbClr val="C00000"/>
          </a:solidFill>
        </p:spPr>
        <p:txBody>
          <a:bodyPr/>
          <a:lstStyle/>
          <a:p>
            <a:pPr>
              <a:lnSpc>
                <a:spcPct val="90000"/>
              </a:lnSpc>
              <a:spcBef>
                <a:spcPct val="0"/>
              </a:spcBef>
              <a:defRPr/>
            </a:pPr>
            <a:r>
              <a:rPr kumimoji="0" lang="en-IN" altLang="zh-CN" sz="2400" b="1" i="0" u="none" strike="noStrike" kern="1200" cap="none" spc="0" normalizeH="0" baseline="0" noProof="0" dirty="0">
                <a:ln>
                  <a:noFill/>
                </a:ln>
                <a:solidFill>
                  <a:schemeClr val="bg1"/>
                </a:solidFill>
                <a:effectLst/>
                <a:uLnTx/>
                <a:uFillTx/>
                <a:latin typeface="Tinos"/>
                <a:ea typeface="+mj-ea"/>
                <a:cs typeface="+mj-cs"/>
              </a:rPr>
              <a:t>          </a:t>
            </a:r>
            <a:r>
              <a:rPr lang="en-IN" sz="2400" b="1" dirty="0">
                <a:solidFill>
                  <a:schemeClr val="bg1"/>
                </a:solidFill>
              </a:rPr>
              <a:t>                                                      </a:t>
            </a:r>
            <a:endParaRPr lang="en-US" sz="2400" b="1" dirty="0">
              <a:solidFill>
                <a:schemeClr val="bg1"/>
              </a:solidFill>
            </a:endParaRPr>
          </a:p>
        </p:txBody>
      </p:sp>
      <p:pic>
        <p:nvPicPr>
          <p:cNvPr id="1028" name="Picture 4" descr="https://galgotiacollege.edu/public/uploads/all/3106/phelosophy.jpeg">
            <a:extLst>
              <a:ext uri="{FF2B5EF4-FFF2-40B4-BE49-F238E27FC236}">
                <a16:creationId xmlns:a16="http://schemas.microsoft.com/office/drawing/2014/main" id="{4BFA3700-D366-2677-DFD5-58A808CE30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453"/>
            <a:ext cx="1504949" cy="103311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CACD864-38EA-E151-74F2-A7381567852F}"/>
              </a:ext>
            </a:extLst>
          </p:cNvPr>
          <p:cNvSpPr txBox="1"/>
          <p:nvPr/>
        </p:nvSpPr>
        <p:spPr>
          <a:xfrm>
            <a:off x="1426678" y="1166842"/>
            <a:ext cx="10843591" cy="2554545"/>
          </a:xfrm>
          <a:prstGeom prst="rect">
            <a:avLst/>
          </a:prstGeom>
          <a:noFill/>
        </p:spPr>
        <p:txBody>
          <a:bodyPr wrap="square">
            <a:spAutoFit/>
          </a:bodyPr>
          <a:lstStyle/>
          <a:p>
            <a:pPr marL="285750" indent="-285750">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Trajectory-Level Diagnosis Missing: </a:t>
            </a:r>
            <a:r>
              <a:rPr lang="en-IN" sz="1600" dirty="0">
                <a:latin typeface="Times New Roman" panose="02020603050405020304" pitchFamily="18" charset="0"/>
                <a:cs typeface="Times New Roman" panose="02020603050405020304" pitchFamily="18" charset="0"/>
              </a:rPr>
              <a:t>Most RL diagnostics provide aggregate metrics (mean reward, episode length). No existing system reads the full sequence of trading decisions and classifies the structural failure pattern (panic sell, overtrade, missed rally, max drawdown).</a:t>
            </a:r>
          </a:p>
          <a:p>
            <a:pPr marL="285750" indent="-285750">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Integration Challenge: </a:t>
            </a:r>
            <a:r>
              <a:rPr lang="en-IN" sz="1600" dirty="0">
                <a:latin typeface="Times New Roman" panose="02020603050405020304" pitchFamily="18" charset="0"/>
                <a:cs typeface="Times New Roman" panose="02020603050405020304" pitchFamily="18" charset="0"/>
              </a:rPr>
              <a:t>Every existing approach addresses either failure diagnosis OR reward adjustment — never both in a closed loop without human intervention at each step.</a:t>
            </a:r>
          </a:p>
          <a:p>
            <a:pPr marL="285750" indent="-285750">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Scalability Gap: </a:t>
            </a:r>
            <a:r>
              <a:rPr lang="en-IN" sz="1600" dirty="0">
                <a:latin typeface="Times New Roman" panose="02020603050405020304" pitchFamily="18" charset="0"/>
                <a:cs typeface="Times New Roman" panose="02020603050405020304" pitchFamily="18" charset="0"/>
              </a:rPr>
              <a:t>Hand-coded reward fix rules (like “if PANIC_SELL then reduce drawdown penalty by 20%”) do not generalise across market regimes or asset classes. A rule that works for NIFTY 50 in a bull market may fail in a bear market or a sideways market.</a:t>
            </a:r>
          </a:p>
          <a:p>
            <a:pPr marL="285750" indent="-285750">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Learning Gap: </a:t>
            </a:r>
            <a:r>
              <a:rPr lang="en-IN" sz="1600" dirty="0">
                <a:latin typeface="Times New Roman" panose="02020603050405020304" pitchFamily="18" charset="0"/>
                <a:cs typeface="Times New Roman" panose="02020603050405020304" pitchFamily="18" charset="0"/>
              </a:rPr>
              <a:t>No existing system treats reward engineering itself as a reinforcement learning problem with a learnable policy. ARTEMIS formalises this as a meta-MDP and solves it with SAC — the core research contribution.</a:t>
            </a:r>
          </a:p>
        </p:txBody>
      </p:sp>
    </p:spTree>
    <p:extLst>
      <p:ext uri="{BB962C8B-B14F-4D97-AF65-F5344CB8AC3E}">
        <p14:creationId xmlns:p14="http://schemas.microsoft.com/office/powerpoint/2010/main" val="27088611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C466E-A09C-4801-844A-59073414E5E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FBE7014E-AD85-5577-6967-B7F2857DE288}"/>
              </a:ext>
            </a:extLst>
          </p:cNvPr>
          <p:cNvSpPr txBox="1">
            <a:spLocks noChangeArrowheads="1"/>
          </p:cNvSpPr>
          <p:nvPr/>
        </p:nvSpPr>
        <p:spPr>
          <a:xfrm>
            <a:off x="1504943" y="-18057"/>
            <a:ext cx="10687051" cy="1033112"/>
          </a:xfrm>
          <a:prstGeom prst="rect">
            <a:avLst/>
          </a:prstGeom>
          <a:solidFill>
            <a:srgbClr val="C00000"/>
          </a:solidFill>
        </p:spPr>
        <p:txBody>
          <a:bodyPr/>
          <a:lstStyle/>
          <a:p>
            <a:r>
              <a:rPr lang="es-ES" sz="4000" b="1" dirty="0">
                <a:latin typeface="Candara" charset="0"/>
                <a:cs typeface="Arial" charset="0"/>
              </a:rPr>
              <a:t>                            </a:t>
            </a:r>
            <a:r>
              <a:rPr lang="es-ES" sz="4000" b="1" dirty="0" err="1">
                <a:solidFill>
                  <a:schemeClr val="bg1"/>
                </a:solidFill>
                <a:latin typeface="Times New Roman" panose="02020603050405020304" pitchFamily="18" charset="0"/>
                <a:cs typeface="Times New Roman" panose="02020603050405020304" pitchFamily="18" charset="0"/>
              </a:rPr>
              <a:t>Research</a:t>
            </a:r>
            <a:r>
              <a:rPr lang="es-ES" sz="4000" b="1" dirty="0">
                <a:latin typeface="Times New Roman" panose="02020603050405020304" pitchFamily="18" charset="0"/>
                <a:cs typeface="Times New Roman" panose="02020603050405020304" pitchFamily="18" charset="0"/>
              </a:rPr>
              <a:t> </a:t>
            </a:r>
            <a:r>
              <a:rPr lang="es-ES" sz="4000" b="1" dirty="0" err="1">
                <a:solidFill>
                  <a:schemeClr val="bg1"/>
                </a:solidFill>
                <a:latin typeface="Times New Roman" panose="02020603050405020304" pitchFamily="18" charset="0"/>
                <a:cs typeface="Times New Roman" panose="02020603050405020304" pitchFamily="18" charset="0"/>
              </a:rPr>
              <a:t>Methodology</a:t>
            </a:r>
            <a:endParaRPr lang="en-IN" sz="4000" b="1" dirty="0">
              <a:solidFill>
                <a:schemeClr val="bg1"/>
              </a:solidFill>
              <a:latin typeface="Times New Roman" panose="02020603050405020304" pitchFamily="18" charset="0"/>
              <a:cs typeface="Times New Roman" panose="02020603050405020304" pitchFamily="18" charset="0"/>
            </a:endParaRPr>
          </a:p>
          <a:p>
            <a:endParaRPr lang="es-ES" sz="4000" dirty="0">
              <a:latin typeface="Candara" charset="0"/>
              <a:cs typeface="Arial" charset="0"/>
            </a:endParaRPr>
          </a:p>
          <a:p>
            <a:pPr algn="ctr" fontAlgn="base"/>
            <a:r>
              <a:rPr lang="en-IN" sz="4000" b="1" dirty="0">
                <a:solidFill>
                  <a:schemeClr val="bg1"/>
                </a:solidFill>
                <a:latin typeface="Times New Roman" panose="02020603050405020304" pitchFamily="18" charset="0"/>
                <a:cs typeface="Times New Roman" panose="02020603050405020304" pitchFamily="18" charset="0"/>
              </a:rPr>
              <a:t>                                 </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4F413C2E-D0BA-9656-1245-618CCCE99253}"/>
              </a:ext>
            </a:extLst>
          </p:cNvPr>
          <p:cNvSpPr txBox="1">
            <a:spLocks noChangeArrowheads="1"/>
          </p:cNvSpPr>
          <p:nvPr/>
        </p:nvSpPr>
        <p:spPr>
          <a:xfrm>
            <a:off x="-1" y="6436129"/>
            <a:ext cx="12191997" cy="401782"/>
          </a:xfrm>
          <a:prstGeom prst="rect">
            <a:avLst/>
          </a:prstGeom>
          <a:solidFill>
            <a:srgbClr val="C00000"/>
          </a:solidFill>
        </p:spPr>
        <p:txBody>
          <a:bodyPr/>
          <a:lstStyle/>
          <a:p>
            <a:pPr>
              <a:lnSpc>
                <a:spcPct val="90000"/>
              </a:lnSpc>
              <a:spcBef>
                <a:spcPct val="0"/>
              </a:spcBef>
              <a:defRPr/>
            </a:pPr>
            <a:r>
              <a:rPr kumimoji="0" lang="en-IN" altLang="zh-CN" sz="2400" b="1" i="0" u="none" strike="noStrike" kern="1200" cap="none" spc="0" normalizeH="0" baseline="0" noProof="0" dirty="0">
                <a:ln>
                  <a:noFill/>
                </a:ln>
                <a:solidFill>
                  <a:schemeClr val="bg1"/>
                </a:solidFill>
                <a:effectLst/>
                <a:uLnTx/>
                <a:uFillTx/>
                <a:latin typeface="Tinos"/>
                <a:ea typeface="+mj-ea"/>
                <a:cs typeface="+mj-cs"/>
              </a:rPr>
              <a:t>          		</a:t>
            </a:r>
            <a:r>
              <a:rPr lang="en-IN" sz="2400" b="1" dirty="0">
                <a:solidFill>
                  <a:schemeClr val="bg1"/>
                </a:solidFill>
              </a:rPr>
              <a:t>                                              </a:t>
            </a:r>
            <a:endParaRPr lang="en-US" sz="2400" b="1" dirty="0">
              <a:solidFill>
                <a:schemeClr val="bg1"/>
              </a:solidFill>
            </a:endParaRPr>
          </a:p>
          <a:p>
            <a:pPr>
              <a:lnSpc>
                <a:spcPct val="90000"/>
              </a:lnSpc>
              <a:spcBef>
                <a:spcPct val="0"/>
              </a:spcBef>
              <a:defRPr/>
            </a:pPr>
            <a:endParaRPr lang="zh-CN" altLang="en-US" sz="2400" b="1" dirty="0">
              <a:solidFill>
                <a:schemeClr val="bg1"/>
              </a:solidFill>
              <a:latin typeface="Tinos"/>
            </a:endParaRPr>
          </a:p>
          <a:p>
            <a:pPr lvl="0">
              <a:lnSpc>
                <a:spcPct val="90000"/>
              </a:lnSpc>
              <a:spcBef>
                <a:spcPct val="0"/>
              </a:spcBef>
              <a:defRPr/>
            </a:pPr>
            <a:endParaRPr kumimoji="0" lang="en-IN" altLang="zh-CN" sz="2400" b="1" i="0" u="none" strike="noStrike" kern="1200" cap="none" spc="0" normalizeH="0" baseline="0" noProof="0" dirty="0">
              <a:ln>
                <a:noFill/>
              </a:ln>
              <a:solidFill>
                <a:schemeClr val="bg1"/>
              </a:solidFill>
              <a:effectLst/>
              <a:uLnTx/>
              <a:uFillTx/>
              <a:latin typeface="Tinos"/>
              <a:ea typeface="+mj-ea"/>
              <a:cs typeface="+mj-cs"/>
            </a:endParaRPr>
          </a:p>
        </p:txBody>
      </p:sp>
      <p:sp>
        <p:nvSpPr>
          <p:cNvPr id="6" name="TextBox 5">
            <a:extLst>
              <a:ext uri="{FF2B5EF4-FFF2-40B4-BE49-F238E27FC236}">
                <a16:creationId xmlns:a16="http://schemas.microsoft.com/office/drawing/2014/main" id="{3D2D006E-FDDD-328E-6B38-BBF0D02DF121}"/>
              </a:ext>
            </a:extLst>
          </p:cNvPr>
          <p:cNvSpPr txBox="1"/>
          <p:nvPr/>
        </p:nvSpPr>
        <p:spPr>
          <a:xfrm>
            <a:off x="1745574" y="1178933"/>
            <a:ext cx="9852868" cy="461665"/>
          </a:xfrm>
          <a:prstGeom prst="rect">
            <a:avLst/>
          </a:prstGeom>
          <a:noFill/>
        </p:spPr>
        <p:txBody>
          <a:bodyPr wrap="square">
            <a:spAutoFit/>
          </a:bodyPr>
          <a:lstStyle/>
          <a:p>
            <a:pPr algn="ctr"/>
            <a:r>
              <a:rPr lang="en-IN" sz="2400" b="1" dirty="0"/>
              <a:t> </a:t>
            </a:r>
            <a:endParaRPr lang="en-US" sz="2400" b="1" dirty="0"/>
          </a:p>
        </p:txBody>
      </p:sp>
      <p:pic>
        <p:nvPicPr>
          <p:cNvPr id="1028" name="Picture 4" descr="https://galgotiacollege.edu/public/uploads/all/3106/phelosophy.jpeg">
            <a:extLst>
              <a:ext uri="{FF2B5EF4-FFF2-40B4-BE49-F238E27FC236}">
                <a16:creationId xmlns:a16="http://schemas.microsoft.com/office/drawing/2014/main" id="{B18DDD6F-E6F0-E949-DDD6-1D5911EAEA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453"/>
            <a:ext cx="1504949" cy="103311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A0715C9A-5DF3-B0C3-D87C-115311793090}"/>
              </a:ext>
            </a:extLst>
          </p:cNvPr>
          <p:cNvPicPr>
            <a:picLocks noChangeAspect="1"/>
          </p:cNvPicPr>
          <p:nvPr/>
        </p:nvPicPr>
        <p:blipFill>
          <a:blip r:embed="rId3"/>
          <a:stretch>
            <a:fillRect/>
          </a:stretch>
        </p:blipFill>
        <p:spPr>
          <a:xfrm>
            <a:off x="2007704" y="1731645"/>
            <a:ext cx="8299174" cy="3394710"/>
          </a:xfrm>
          <a:prstGeom prst="rect">
            <a:avLst/>
          </a:prstGeom>
          <a:ln w="19050">
            <a:solidFill>
              <a:schemeClr val="tx1"/>
            </a:solidFill>
          </a:ln>
        </p:spPr>
      </p:pic>
      <p:sp>
        <p:nvSpPr>
          <p:cNvPr id="7" name="TextBox 6">
            <a:extLst>
              <a:ext uri="{FF2B5EF4-FFF2-40B4-BE49-F238E27FC236}">
                <a16:creationId xmlns:a16="http://schemas.microsoft.com/office/drawing/2014/main" id="{AAF7E438-E066-0F4C-AB89-FCD88448B30D}"/>
              </a:ext>
            </a:extLst>
          </p:cNvPr>
          <p:cNvSpPr txBox="1"/>
          <p:nvPr/>
        </p:nvSpPr>
        <p:spPr>
          <a:xfrm>
            <a:off x="3047169" y="5220126"/>
            <a:ext cx="6097656" cy="665118"/>
          </a:xfrm>
          <a:prstGeom prst="rect">
            <a:avLst/>
          </a:prstGeom>
          <a:noFill/>
        </p:spPr>
        <p:txBody>
          <a:bodyPr wrap="square">
            <a:spAutoFit/>
          </a:bodyPr>
          <a:lstStyle/>
          <a:p>
            <a:pPr algn="ctr">
              <a:lnSpc>
                <a:spcPct val="107000"/>
              </a:lnSpc>
              <a:spcBef>
                <a:spcPts val="5"/>
              </a:spcBef>
              <a:spcAft>
                <a:spcPts val="400"/>
              </a:spcAft>
              <a:buNone/>
            </a:pPr>
            <a:r>
              <a:rPr lang="en-IN" sz="1800" b="1" kern="100" dirty="0">
                <a:effectLst/>
                <a:latin typeface="Times New Roman" panose="02020603050405020304" pitchFamily="18" charset="0"/>
                <a:ea typeface="Times New Roman" panose="02020603050405020304" pitchFamily="18" charset="0"/>
                <a:cs typeface="Times New Roman" panose="02020603050405020304" pitchFamily="18" charset="0"/>
              </a:rPr>
              <a:t>Fig.1. Flowchart Depicting the ARTEMIS Closed-Loop Framework</a:t>
            </a:r>
          </a:p>
        </p:txBody>
      </p:sp>
    </p:spTree>
    <p:extLst>
      <p:ext uri="{BB962C8B-B14F-4D97-AF65-F5344CB8AC3E}">
        <p14:creationId xmlns:p14="http://schemas.microsoft.com/office/powerpoint/2010/main" val="1016701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9ED99B-DBC5-4426-BBC6-8BBB2E2998D2}"/>
              </a:ext>
            </a:extLst>
          </p:cNvPr>
          <p:cNvSpPr txBox="1">
            <a:spLocks noChangeArrowheads="1"/>
          </p:cNvSpPr>
          <p:nvPr/>
        </p:nvSpPr>
        <p:spPr>
          <a:xfrm>
            <a:off x="1504943" y="-18057"/>
            <a:ext cx="10687051" cy="1033112"/>
          </a:xfrm>
          <a:prstGeom prst="rect">
            <a:avLst/>
          </a:prstGeom>
          <a:solidFill>
            <a:srgbClr val="C00000"/>
          </a:solidFill>
        </p:spPr>
        <p:txBody>
          <a:bodyPr/>
          <a:lstStyle/>
          <a:p>
            <a:r>
              <a:rPr lang="es-ES" sz="4000" b="1" dirty="0">
                <a:latin typeface="Candara" charset="0"/>
                <a:cs typeface="Arial" charset="0"/>
              </a:rPr>
              <a:t>                            </a:t>
            </a:r>
            <a:r>
              <a:rPr lang="es-ES" sz="4000" b="1" dirty="0" err="1">
                <a:solidFill>
                  <a:schemeClr val="bg1"/>
                </a:solidFill>
                <a:latin typeface="Times New Roman" panose="02020603050405020304" pitchFamily="18" charset="0"/>
                <a:cs typeface="Times New Roman" panose="02020603050405020304" pitchFamily="18" charset="0"/>
              </a:rPr>
              <a:t>Research</a:t>
            </a:r>
            <a:r>
              <a:rPr lang="es-ES" sz="4000" b="1" dirty="0">
                <a:latin typeface="Candara" charset="0"/>
                <a:cs typeface="Arial" charset="0"/>
              </a:rPr>
              <a:t> </a:t>
            </a:r>
            <a:r>
              <a:rPr lang="es-ES" sz="4000" b="1" dirty="0" err="1">
                <a:solidFill>
                  <a:schemeClr val="bg1"/>
                </a:solidFill>
                <a:latin typeface="Times New Roman" panose="02020603050405020304" pitchFamily="18" charset="0"/>
                <a:cs typeface="Times New Roman" panose="02020603050405020304" pitchFamily="18" charset="0"/>
              </a:rPr>
              <a:t>Methodology</a:t>
            </a:r>
            <a:r>
              <a:rPr lang="es-ES" sz="4000" b="1" dirty="0">
                <a:solidFill>
                  <a:schemeClr val="bg1"/>
                </a:solidFill>
                <a:latin typeface="Times New Roman" panose="02020603050405020304" pitchFamily="18" charset="0"/>
                <a:cs typeface="Times New Roman" panose="02020603050405020304" pitchFamily="18" charset="0"/>
              </a:rPr>
              <a:t> </a:t>
            </a:r>
            <a:r>
              <a:rPr lang="en-IN" sz="4000" b="1" dirty="0" err="1">
                <a:solidFill>
                  <a:schemeClr val="bg1"/>
                </a:solidFill>
                <a:latin typeface="Times New Roman" panose="02020603050405020304" pitchFamily="18" charset="0"/>
                <a:cs typeface="Times New Roman" panose="02020603050405020304" pitchFamily="18" charset="0"/>
              </a:rPr>
              <a:t>Contd</a:t>
            </a:r>
            <a:r>
              <a:rPr lang="en-IN" sz="4000" b="1" dirty="0">
                <a:solidFill>
                  <a:schemeClr val="bg1"/>
                </a:solidFill>
                <a:latin typeface="Times New Roman" panose="02020603050405020304" pitchFamily="18" charset="0"/>
                <a:cs typeface="Times New Roman" panose="02020603050405020304" pitchFamily="18" charset="0"/>
              </a:rPr>
              <a:t>…</a:t>
            </a:r>
          </a:p>
          <a:p>
            <a:endParaRPr lang="es-ES" sz="4000" dirty="0">
              <a:latin typeface="Candara" charset="0"/>
              <a:cs typeface="Arial" charset="0"/>
            </a:endParaRPr>
          </a:p>
          <a:p>
            <a:pPr algn="ctr" fontAlgn="base"/>
            <a:r>
              <a:rPr lang="en-IN" sz="4000" b="1" dirty="0">
                <a:solidFill>
                  <a:schemeClr val="bg1"/>
                </a:solidFill>
                <a:latin typeface="Times New Roman" panose="02020603050405020304" pitchFamily="18" charset="0"/>
                <a:cs typeface="Times New Roman" panose="02020603050405020304" pitchFamily="18" charset="0"/>
              </a:rPr>
              <a:t>                                 </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A311BE22-15C4-49E9-92D6-1535F166D04E}"/>
              </a:ext>
            </a:extLst>
          </p:cNvPr>
          <p:cNvSpPr txBox="1">
            <a:spLocks noChangeArrowheads="1"/>
          </p:cNvSpPr>
          <p:nvPr/>
        </p:nvSpPr>
        <p:spPr>
          <a:xfrm>
            <a:off x="-1" y="6436129"/>
            <a:ext cx="12191997" cy="401782"/>
          </a:xfrm>
          <a:prstGeom prst="rect">
            <a:avLst/>
          </a:prstGeom>
          <a:solidFill>
            <a:srgbClr val="C00000"/>
          </a:solidFill>
        </p:spPr>
        <p:txBody>
          <a:bodyPr/>
          <a:lstStyle/>
          <a:p>
            <a:pPr>
              <a:lnSpc>
                <a:spcPct val="90000"/>
              </a:lnSpc>
              <a:spcBef>
                <a:spcPct val="0"/>
              </a:spcBef>
              <a:defRPr/>
            </a:pPr>
            <a:r>
              <a:rPr kumimoji="0" lang="en-IN" altLang="zh-CN" sz="2400" b="1" i="0" u="none" strike="noStrike" kern="1200" cap="none" spc="0" normalizeH="0" baseline="0" noProof="0" dirty="0">
                <a:ln>
                  <a:noFill/>
                </a:ln>
                <a:solidFill>
                  <a:schemeClr val="bg1"/>
                </a:solidFill>
                <a:effectLst/>
                <a:uLnTx/>
                <a:uFillTx/>
                <a:latin typeface="Tinos"/>
                <a:ea typeface="+mj-ea"/>
                <a:cs typeface="+mj-cs"/>
              </a:rPr>
              <a:t>          		</a:t>
            </a:r>
            <a:r>
              <a:rPr lang="en-IN" sz="2400" b="1" dirty="0">
                <a:solidFill>
                  <a:schemeClr val="bg1"/>
                </a:solidFill>
              </a:rPr>
              <a:t>                                              </a:t>
            </a:r>
            <a:endParaRPr lang="en-US" sz="2400" b="1" dirty="0">
              <a:solidFill>
                <a:schemeClr val="bg1"/>
              </a:solidFill>
            </a:endParaRPr>
          </a:p>
          <a:p>
            <a:pPr>
              <a:lnSpc>
                <a:spcPct val="90000"/>
              </a:lnSpc>
              <a:spcBef>
                <a:spcPct val="0"/>
              </a:spcBef>
              <a:defRPr/>
            </a:pPr>
            <a:endParaRPr lang="zh-CN" altLang="en-US" sz="2400" b="1" dirty="0">
              <a:solidFill>
                <a:schemeClr val="bg1"/>
              </a:solidFill>
              <a:latin typeface="Tinos"/>
            </a:endParaRPr>
          </a:p>
          <a:p>
            <a:pPr lvl="0">
              <a:lnSpc>
                <a:spcPct val="90000"/>
              </a:lnSpc>
              <a:spcBef>
                <a:spcPct val="0"/>
              </a:spcBef>
              <a:defRPr/>
            </a:pPr>
            <a:endParaRPr kumimoji="0" lang="en-IN" altLang="zh-CN" sz="2400" b="1" i="0" u="none" strike="noStrike" kern="1200" cap="none" spc="0" normalizeH="0" baseline="0" noProof="0" dirty="0">
              <a:ln>
                <a:noFill/>
              </a:ln>
              <a:solidFill>
                <a:schemeClr val="bg1"/>
              </a:solidFill>
              <a:effectLst/>
              <a:uLnTx/>
              <a:uFillTx/>
              <a:latin typeface="Tinos"/>
              <a:ea typeface="+mj-ea"/>
              <a:cs typeface="+mj-cs"/>
            </a:endParaRPr>
          </a:p>
        </p:txBody>
      </p:sp>
      <p:sp>
        <p:nvSpPr>
          <p:cNvPr id="6" name="TextBox 5">
            <a:extLst>
              <a:ext uri="{FF2B5EF4-FFF2-40B4-BE49-F238E27FC236}">
                <a16:creationId xmlns:a16="http://schemas.microsoft.com/office/drawing/2014/main" id="{7938415B-9138-40A8-9E17-54906A209D78}"/>
              </a:ext>
            </a:extLst>
          </p:cNvPr>
          <p:cNvSpPr txBox="1"/>
          <p:nvPr/>
        </p:nvSpPr>
        <p:spPr>
          <a:xfrm>
            <a:off x="1745574" y="1178933"/>
            <a:ext cx="9852868" cy="461665"/>
          </a:xfrm>
          <a:prstGeom prst="rect">
            <a:avLst/>
          </a:prstGeom>
          <a:noFill/>
        </p:spPr>
        <p:txBody>
          <a:bodyPr wrap="square">
            <a:spAutoFit/>
          </a:bodyPr>
          <a:lstStyle/>
          <a:p>
            <a:pPr algn="ctr"/>
            <a:r>
              <a:rPr lang="en-IN" sz="2400" b="1" dirty="0"/>
              <a:t> </a:t>
            </a:r>
            <a:endParaRPr lang="en-US" sz="2400" b="1" dirty="0"/>
          </a:p>
        </p:txBody>
      </p:sp>
      <p:pic>
        <p:nvPicPr>
          <p:cNvPr id="1028" name="Picture 4" descr="https://galgotiacollege.edu/public/uploads/all/3106/phelosophy.jpeg">
            <a:extLst>
              <a:ext uri="{FF2B5EF4-FFF2-40B4-BE49-F238E27FC236}">
                <a16:creationId xmlns:a16="http://schemas.microsoft.com/office/drawing/2014/main" id="{A8415EEE-B85B-444D-966E-2290962AA0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453"/>
            <a:ext cx="1504949" cy="103311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725971D-3DC0-F590-2365-873053C3D6B5}"/>
              </a:ext>
            </a:extLst>
          </p:cNvPr>
          <p:cNvSpPr txBox="1"/>
          <p:nvPr/>
        </p:nvSpPr>
        <p:spPr>
          <a:xfrm>
            <a:off x="1504949" y="1058337"/>
            <a:ext cx="10687051" cy="4495461"/>
          </a:xfrm>
          <a:prstGeom prst="rect">
            <a:avLst/>
          </a:prstGeom>
          <a:noFill/>
        </p:spPr>
        <p:txBody>
          <a:bodyPr wrap="square" rtlCol="0">
            <a:spAutoFit/>
          </a:bodyPr>
          <a:lstStyle/>
          <a:p>
            <a:pPr marL="285750" indent="-285750">
              <a:lnSpc>
                <a:spcPct val="115000"/>
              </a:lnSpc>
              <a:spcAft>
                <a:spcPts val="600"/>
              </a:spcAft>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Data: </a:t>
            </a:r>
            <a:r>
              <a:rPr lang="en-IN" sz="1600" dirty="0">
                <a:latin typeface="Times New Roman" panose="02020603050405020304" pitchFamily="18" charset="0"/>
                <a:cs typeface="Times New Roman" panose="02020603050405020304" pitchFamily="18" charset="0"/>
              </a:rPr>
              <a:t>yfinance API downloads NIFTY 50 (^NSEI) daily OHLCV data from 2020 to 2024 across bull, bear, and sideways regimes.</a:t>
            </a:r>
          </a:p>
          <a:p>
            <a:pPr marL="285750" indent="-285750">
              <a:lnSpc>
                <a:spcPct val="115000"/>
              </a:lnSpc>
              <a:spcAft>
                <a:spcPts val="600"/>
              </a:spcAft>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Trading environment: </a:t>
            </a:r>
            <a:r>
              <a:rPr lang="en-IN" sz="1600" dirty="0">
                <a:latin typeface="Times New Roman" panose="02020603050405020304" pitchFamily="18" charset="0"/>
                <a:cs typeface="Times New Roman" panose="02020603050405020304" pitchFamily="18" charset="0"/>
              </a:rPr>
              <a:t>Custom Gymnasium env with 6 technical indicators, 10-dim observation space, 3 discrete actions (Buy/Hold/Sell), 252-day episodes, and a 6-parameter shaped reward.</a:t>
            </a:r>
          </a:p>
          <a:p>
            <a:pPr marL="285750" indent="-285750">
              <a:lnSpc>
                <a:spcPct val="115000"/>
              </a:lnSpc>
              <a:spcAft>
                <a:spcPts val="600"/>
              </a:spcAft>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Inner agent &amp; LSTM training data: </a:t>
            </a:r>
            <a:r>
              <a:rPr lang="en-IN" sz="1600" dirty="0">
                <a:latin typeface="Times New Roman" panose="02020603050405020304" pitchFamily="18" charset="0"/>
                <a:cs typeface="Times New Roman" panose="02020603050405020304" pitchFamily="18" charset="0"/>
              </a:rPr>
              <a:t>PPO trained via Stable-Baselines3, 500,000 steps per regime. 5 broken environment subclasses produce 300 labelled failure trajectories for supervised LSTM training.</a:t>
            </a:r>
          </a:p>
          <a:p>
            <a:pPr marL="285750" indent="-285750">
              <a:lnSpc>
                <a:spcPct val="115000"/>
              </a:lnSpc>
              <a:spcAft>
                <a:spcPts val="600"/>
              </a:spcAft>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Attention-augmented LSTM: </a:t>
            </a:r>
            <a:r>
              <a:rPr lang="en-IN" sz="1600" dirty="0">
                <a:latin typeface="Times New Roman" panose="02020603050405020304" pitchFamily="18" charset="0"/>
                <a:cs typeface="Times New Roman" panose="02020603050405020304" pitchFamily="18" charset="0"/>
              </a:rPr>
              <a:t>2-layer LSTM (hidden=64) + 4-head self-attention, reading full 252-day trajectories to jointly classify failure mode and fix type.</a:t>
            </a:r>
          </a:p>
          <a:p>
            <a:pPr marL="285750" indent="-285750">
              <a:lnSpc>
                <a:spcPct val="115000"/>
              </a:lnSpc>
              <a:spcAft>
                <a:spcPts val="600"/>
              </a:spcAft>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Meta-MDP &amp; SAC meta-policy: </a:t>
            </a:r>
            <a:r>
              <a:rPr lang="en-IN" sz="1600" dirty="0">
                <a:latin typeface="Times New Roman" panose="02020603050405020304" pitchFamily="18" charset="0"/>
                <a:cs typeface="Times New Roman" panose="02020603050405020304" pitchFamily="18" charset="0"/>
              </a:rPr>
              <a:t>17-dim state (failure probs + reward weights + performance metrics), 6-dim continuous action bounded ±0.3. SAC trained for 2000 meta-steps to maximize Sharpe ratio improvement.</a:t>
            </a:r>
          </a:p>
          <a:p>
            <a:pPr marL="285750" indent="-285750">
              <a:lnSpc>
                <a:spcPct val="115000"/>
              </a:lnSpc>
              <a:spcAft>
                <a:spcPts val="600"/>
              </a:spcAft>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Accept/Reject gate: </a:t>
            </a:r>
            <a:r>
              <a:rPr lang="en-IN" sz="1600" dirty="0">
                <a:latin typeface="Times New Roman" panose="02020603050405020304" pitchFamily="18" charset="0"/>
                <a:cs typeface="Times New Roman" panose="02020603050405020304" pitchFamily="18" charset="0"/>
              </a:rPr>
              <a:t>After each meta-step, PPO is finetuned for 20,000 steps; the new reward config is kept only if Sharpe ratio improves. Repeats for K=3 iterations.</a:t>
            </a:r>
          </a:p>
          <a:p>
            <a:pPr marL="285750" indent="-285750">
              <a:lnSpc>
                <a:spcPct val="115000"/>
              </a:lnSpc>
              <a:spcAft>
                <a:spcPts val="600"/>
              </a:spcAft>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Ablation study: </a:t>
            </a:r>
            <a:r>
              <a:rPr lang="en-IN" sz="1600" dirty="0">
                <a:latin typeface="Times New Roman" panose="02020603050405020304" pitchFamily="18" charset="0"/>
                <a:cs typeface="Times New Roman" panose="02020603050405020304" pitchFamily="18" charset="0"/>
              </a:rPr>
              <a:t>4 conditions — PPO only, hand-coded fixes, random fixes, ARTEMIS with SAC — each across 3 regimes × 5 seeds, tested with Wilcoxon signed-rank (α=0.05).</a:t>
            </a:r>
          </a:p>
        </p:txBody>
      </p:sp>
    </p:spTree>
    <p:extLst>
      <p:ext uri="{BB962C8B-B14F-4D97-AF65-F5344CB8AC3E}">
        <p14:creationId xmlns:p14="http://schemas.microsoft.com/office/powerpoint/2010/main" val="8787728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C165E-71DD-C390-5651-F3C7327D5790}"/>
              </a:ext>
            </a:extLst>
          </p:cNvPr>
          <p:cNvSpPr txBox="1">
            <a:spLocks noChangeArrowheads="1"/>
          </p:cNvSpPr>
          <p:nvPr/>
        </p:nvSpPr>
        <p:spPr>
          <a:xfrm>
            <a:off x="1504943" y="-18057"/>
            <a:ext cx="10687051" cy="1033112"/>
          </a:xfrm>
          <a:prstGeom prst="rect">
            <a:avLst/>
          </a:prstGeom>
          <a:solidFill>
            <a:srgbClr val="C00000"/>
          </a:solidFill>
        </p:spPr>
        <p:txBody>
          <a:bodyPr/>
          <a:lstStyle/>
          <a:p>
            <a:r>
              <a:rPr lang="es-ES" sz="4000" b="1" dirty="0">
                <a:latin typeface="Candara" charset="0"/>
                <a:cs typeface="Arial" charset="0"/>
              </a:rPr>
              <a:t>                            </a:t>
            </a:r>
            <a:r>
              <a:rPr lang="es-ES" sz="4000" b="1" dirty="0" err="1">
                <a:solidFill>
                  <a:schemeClr val="bg1"/>
                </a:solidFill>
                <a:latin typeface="Times New Roman" panose="02020603050405020304" pitchFamily="18" charset="0"/>
                <a:cs typeface="Times New Roman" panose="02020603050405020304" pitchFamily="18" charset="0"/>
              </a:rPr>
              <a:t>Result</a:t>
            </a:r>
            <a:r>
              <a:rPr lang="es-ES" sz="4000" b="1" dirty="0">
                <a:latin typeface="Candara" charset="0"/>
                <a:cs typeface="Arial" charset="0"/>
              </a:rPr>
              <a:t> </a:t>
            </a:r>
            <a:r>
              <a:rPr lang="es-ES" sz="4000" b="1" dirty="0" err="1">
                <a:solidFill>
                  <a:schemeClr val="bg1"/>
                </a:solidFill>
                <a:latin typeface="Times New Roman" panose="02020603050405020304" pitchFamily="18" charset="0"/>
                <a:cs typeface="Times New Roman" panose="02020603050405020304" pitchFamily="18" charset="0"/>
              </a:rPr>
              <a:t>Analysis</a:t>
            </a:r>
            <a:endParaRPr lang="en-IN" sz="4000" b="1" dirty="0">
              <a:solidFill>
                <a:schemeClr val="bg1"/>
              </a:solidFill>
              <a:latin typeface="Times New Roman" panose="02020603050405020304" pitchFamily="18" charset="0"/>
              <a:cs typeface="Times New Roman" panose="02020603050405020304" pitchFamily="18" charset="0"/>
            </a:endParaRPr>
          </a:p>
          <a:p>
            <a:endParaRPr lang="es-ES" sz="4000" dirty="0">
              <a:latin typeface="Candara" charset="0"/>
              <a:cs typeface="Arial" charset="0"/>
            </a:endParaRPr>
          </a:p>
          <a:p>
            <a:pPr algn="ctr" fontAlgn="base"/>
            <a:r>
              <a:rPr lang="en-IN" sz="4000" b="1" dirty="0">
                <a:solidFill>
                  <a:schemeClr val="bg1"/>
                </a:solidFill>
                <a:latin typeface="Times New Roman" panose="02020603050405020304" pitchFamily="18" charset="0"/>
                <a:cs typeface="Times New Roman" panose="02020603050405020304" pitchFamily="18" charset="0"/>
              </a:rPr>
              <a:t>                                 </a:t>
            </a:r>
            <a:endParaRPr lang="en-IN" sz="4000" dirty="0">
              <a:solidFill>
                <a:schemeClr val="bg1"/>
              </a:solidFill>
              <a:latin typeface="Times New Roman" panose="02020603050405020304" pitchFamily="18" charset="0"/>
              <a:cs typeface="Times New Roman" panose="02020603050405020304" pitchFamily="18" charset="0"/>
            </a:endParaRPr>
          </a:p>
        </p:txBody>
      </p:sp>
      <p:pic>
        <p:nvPicPr>
          <p:cNvPr id="3" name="Picture 4" descr="https://galgotiacollege.edu/public/uploads/all/3106/phelosophy.jpeg">
            <a:extLst>
              <a:ext uri="{FF2B5EF4-FFF2-40B4-BE49-F238E27FC236}">
                <a16:creationId xmlns:a16="http://schemas.microsoft.com/office/drawing/2014/main" id="{7E674AF0-397C-AC1C-2FFB-5D06FF0D27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453"/>
            <a:ext cx="1504949" cy="1033112"/>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7C742375-6259-B5FE-5ADB-EC39FD9F12B1}"/>
              </a:ext>
            </a:extLst>
          </p:cNvPr>
          <p:cNvSpPr txBox="1">
            <a:spLocks noChangeArrowheads="1"/>
          </p:cNvSpPr>
          <p:nvPr/>
        </p:nvSpPr>
        <p:spPr>
          <a:xfrm>
            <a:off x="-1" y="6436129"/>
            <a:ext cx="12191997" cy="401782"/>
          </a:xfrm>
          <a:prstGeom prst="rect">
            <a:avLst/>
          </a:prstGeom>
          <a:solidFill>
            <a:srgbClr val="C00000"/>
          </a:solidFill>
        </p:spPr>
        <p:txBody>
          <a:bodyPr/>
          <a:lstStyle/>
          <a:p>
            <a:pPr>
              <a:lnSpc>
                <a:spcPct val="90000"/>
              </a:lnSpc>
              <a:spcBef>
                <a:spcPct val="0"/>
              </a:spcBef>
              <a:defRPr/>
            </a:pPr>
            <a:r>
              <a:rPr kumimoji="0" lang="en-IN" altLang="zh-CN" sz="2400" b="1" i="0" u="none" strike="noStrike" kern="1200" cap="none" spc="0" normalizeH="0" baseline="0" noProof="0" dirty="0">
                <a:ln>
                  <a:noFill/>
                </a:ln>
                <a:solidFill>
                  <a:schemeClr val="bg1"/>
                </a:solidFill>
                <a:effectLst/>
                <a:uLnTx/>
                <a:uFillTx/>
                <a:latin typeface="Tinos"/>
                <a:ea typeface="+mj-ea"/>
                <a:cs typeface="+mj-cs"/>
              </a:rPr>
              <a:t>          		</a:t>
            </a:r>
            <a:r>
              <a:rPr lang="en-IN" sz="2400" b="1" dirty="0">
                <a:solidFill>
                  <a:schemeClr val="bg1"/>
                </a:solidFill>
              </a:rPr>
              <a:t>                                              </a:t>
            </a:r>
            <a:endParaRPr lang="en-US" sz="2400" b="1" dirty="0">
              <a:solidFill>
                <a:schemeClr val="bg1"/>
              </a:solidFill>
            </a:endParaRPr>
          </a:p>
          <a:p>
            <a:pPr>
              <a:lnSpc>
                <a:spcPct val="90000"/>
              </a:lnSpc>
              <a:spcBef>
                <a:spcPct val="0"/>
              </a:spcBef>
              <a:defRPr/>
            </a:pPr>
            <a:endParaRPr lang="zh-CN" altLang="en-US" sz="2400" b="1" dirty="0">
              <a:solidFill>
                <a:schemeClr val="bg1"/>
              </a:solidFill>
              <a:latin typeface="Tinos"/>
            </a:endParaRPr>
          </a:p>
          <a:p>
            <a:pPr lvl="0">
              <a:lnSpc>
                <a:spcPct val="90000"/>
              </a:lnSpc>
              <a:spcBef>
                <a:spcPct val="0"/>
              </a:spcBef>
              <a:defRPr/>
            </a:pPr>
            <a:endParaRPr kumimoji="0" lang="en-IN" altLang="zh-CN" sz="2400" b="1" i="0" u="none" strike="noStrike" kern="1200" cap="none" spc="0" normalizeH="0" baseline="0" noProof="0" dirty="0">
              <a:ln>
                <a:noFill/>
              </a:ln>
              <a:solidFill>
                <a:schemeClr val="bg1"/>
              </a:solidFill>
              <a:effectLst/>
              <a:uLnTx/>
              <a:uFillTx/>
              <a:latin typeface="Tinos"/>
              <a:ea typeface="+mj-ea"/>
              <a:cs typeface="+mj-cs"/>
            </a:endParaRPr>
          </a:p>
        </p:txBody>
      </p:sp>
      <p:sp>
        <p:nvSpPr>
          <p:cNvPr id="9" name="TextBox 8">
            <a:extLst>
              <a:ext uri="{FF2B5EF4-FFF2-40B4-BE49-F238E27FC236}">
                <a16:creationId xmlns:a16="http://schemas.microsoft.com/office/drawing/2014/main" id="{A9AF690D-ED36-1A8C-4612-98DF1870089A}"/>
              </a:ext>
            </a:extLst>
          </p:cNvPr>
          <p:cNvSpPr txBox="1"/>
          <p:nvPr/>
        </p:nvSpPr>
        <p:spPr>
          <a:xfrm>
            <a:off x="1330036" y="1191490"/>
            <a:ext cx="10224655" cy="2800767"/>
          </a:xfrm>
          <a:prstGeom prst="rect">
            <a:avLst/>
          </a:prstGeom>
          <a:noFill/>
        </p:spPr>
        <p:txBody>
          <a:bodyPr wrap="square" rtlCol="0">
            <a:spAutoFit/>
          </a:bodyPr>
          <a:lstStyle/>
          <a:p>
            <a:pPr marL="285750" indent="-285750">
              <a:buFont typeface="Wingdings" panose="05000000000000000000" pitchFamily="2" charset="2"/>
              <a:buChar char="Ø"/>
            </a:pPr>
            <a:r>
              <a:rPr lang="en-US" sz="1600" b="1" dirty="0"/>
              <a:t>Data pipeline: </a:t>
            </a:r>
            <a:r>
              <a:rPr lang="en-US" sz="1600" dirty="0"/>
              <a:t>NIFTY 50 (465 bull rows, 215 bear rows, 313 sideways rows), BSE Sensex (1,056 rows), Gold futures (1,078 rows) — all downloaded and cached successfully.</a:t>
            </a:r>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r>
              <a:rPr lang="en-US" sz="1600" b="1" dirty="0"/>
              <a:t>Trading environment: </a:t>
            </a:r>
            <a:r>
              <a:rPr lang="en-US" sz="1600" dirty="0"/>
              <a:t>obs shape (10,) confirmed. First step reward: −0.0025. Episode length: 252 steps. All 5 broken environments verified with distinct failure patterns.</a:t>
            </a:r>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r>
              <a:rPr lang="en-US" sz="1600" b="1" dirty="0"/>
              <a:t>LSTM architecture: </a:t>
            </a:r>
            <a:r>
              <a:rPr lang="en-US" sz="1600" dirty="0"/>
              <a:t>Failure logits shape (2, 6) . Fix logits shape (2, 6) . Attention weights shape (2, 252, 252) . Gradient flow confirmed through all layers.</a:t>
            </a:r>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r>
              <a:rPr lang="en-US" sz="1600" b="1" dirty="0"/>
              <a:t>PPO smoke test: </a:t>
            </a:r>
            <a:r>
              <a:rPr lang="en-US" sz="1600" dirty="0"/>
              <a:t>500 steps trained in 9 seconds. Model saved. 2 evaluation episodes collected (252 steps each). evaluate() and benchmark_buy_and_hold() both return correct metrics.</a:t>
            </a:r>
          </a:p>
        </p:txBody>
      </p:sp>
    </p:spTree>
    <p:extLst>
      <p:ext uri="{BB962C8B-B14F-4D97-AF65-F5344CB8AC3E}">
        <p14:creationId xmlns:p14="http://schemas.microsoft.com/office/powerpoint/2010/main" val="19114055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2EAB8-CD63-7286-6B8F-3DCB6F2656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886392-FEFE-A534-0D1F-06904B1E5F04}"/>
              </a:ext>
            </a:extLst>
          </p:cNvPr>
          <p:cNvSpPr txBox="1">
            <a:spLocks noChangeArrowheads="1"/>
          </p:cNvSpPr>
          <p:nvPr/>
        </p:nvSpPr>
        <p:spPr>
          <a:xfrm>
            <a:off x="1504943" y="-18057"/>
            <a:ext cx="10687051" cy="1033112"/>
          </a:xfrm>
          <a:prstGeom prst="rect">
            <a:avLst/>
          </a:prstGeom>
          <a:solidFill>
            <a:srgbClr val="C00000"/>
          </a:solidFill>
        </p:spPr>
        <p:txBody>
          <a:bodyPr/>
          <a:lstStyle/>
          <a:p>
            <a:r>
              <a:rPr lang="es-ES" sz="4000" b="1" dirty="0">
                <a:latin typeface="Candara" charset="0"/>
                <a:cs typeface="Arial" charset="0"/>
              </a:rPr>
              <a:t>                            </a:t>
            </a:r>
            <a:r>
              <a:rPr lang="es-ES" sz="4000" b="1" dirty="0" err="1">
                <a:solidFill>
                  <a:schemeClr val="bg1"/>
                </a:solidFill>
                <a:latin typeface="Times New Roman" panose="02020603050405020304" pitchFamily="18" charset="0"/>
                <a:cs typeface="Times New Roman" panose="02020603050405020304" pitchFamily="18" charset="0"/>
              </a:rPr>
              <a:t>Result</a:t>
            </a:r>
            <a:r>
              <a:rPr lang="es-ES" sz="4000" b="1" dirty="0">
                <a:latin typeface="Candara" charset="0"/>
                <a:cs typeface="Arial" charset="0"/>
              </a:rPr>
              <a:t> </a:t>
            </a:r>
            <a:r>
              <a:rPr lang="es-ES" sz="4000" b="1" dirty="0" err="1">
                <a:solidFill>
                  <a:schemeClr val="bg1"/>
                </a:solidFill>
                <a:latin typeface="Times New Roman" panose="02020603050405020304" pitchFamily="18" charset="0"/>
                <a:cs typeface="Times New Roman" panose="02020603050405020304" pitchFamily="18" charset="0"/>
              </a:rPr>
              <a:t>Analysis</a:t>
            </a:r>
            <a:r>
              <a:rPr lang="es-ES" sz="4000" b="1" dirty="0">
                <a:solidFill>
                  <a:schemeClr val="bg1"/>
                </a:solidFill>
                <a:latin typeface="Times New Roman" panose="02020603050405020304" pitchFamily="18" charset="0"/>
                <a:cs typeface="Times New Roman" panose="02020603050405020304" pitchFamily="18" charset="0"/>
              </a:rPr>
              <a:t> </a:t>
            </a:r>
            <a:r>
              <a:rPr lang="en-IN" sz="4000" b="1" dirty="0" err="1">
                <a:solidFill>
                  <a:schemeClr val="bg1"/>
                </a:solidFill>
                <a:latin typeface="Times New Roman" panose="02020603050405020304" pitchFamily="18" charset="0"/>
                <a:cs typeface="Times New Roman" panose="02020603050405020304" pitchFamily="18" charset="0"/>
              </a:rPr>
              <a:t>Contd</a:t>
            </a:r>
            <a:r>
              <a:rPr lang="en-IN" sz="4000" b="1" dirty="0">
                <a:solidFill>
                  <a:schemeClr val="bg1"/>
                </a:solidFill>
                <a:latin typeface="Times New Roman" panose="02020603050405020304" pitchFamily="18" charset="0"/>
                <a:cs typeface="Times New Roman" panose="02020603050405020304" pitchFamily="18" charset="0"/>
              </a:rPr>
              <a:t>…</a:t>
            </a:r>
          </a:p>
          <a:p>
            <a:endParaRPr lang="es-ES" sz="4000" dirty="0">
              <a:latin typeface="Candara" charset="0"/>
              <a:cs typeface="Arial" charset="0"/>
            </a:endParaRPr>
          </a:p>
          <a:p>
            <a:pPr algn="ctr" fontAlgn="base"/>
            <a:r>
              <a:rPr lang="en-IN" sz="4000" b="1" dirty="0">
                <a:solidFill>
                  <a:schemeClr val="bg1"/>
                </a:solidFill>
                <a:latin typeface="Times New Roman" panose="02020603050405020304" pitchFamily="18" charset="0"/>
                <a:cs typeface="Times New Roman" panose="02020603050405020304" pitchFamily="18" charset="0"/>
              </a:rPr>
              <a:t>                                 </a:t>
            </a:r>
            <a:endParaRPr lang="en-IN" sz="4000" dirty="0">
              <a:solidFill>
                <a:schemeClr val="bg1"/>
              </a:solidFill>
              <a:latin typeface="Times New Roman" panose="02020603050405020304" pitchFamily="18" charset="0"/>
              <a:cs typeface="Times New Roman" panose="02020603050405020304" pitchFamily="18" charset="0"/>
            </a:endParaRPr>
          </a:p>
        </p:txBody>
      </p:sp>
      <p:pic>
        <p:nvPicPr>
          <p:cNvPr id="3" name="Picture 4" descr="https://galgotiacollege.edu/public/uploads/all/3106/phelosophy.jpeg">
            <a:extLst>
              <a:ext uri="{FF2B5EF4-FFF2-40B4-BE49-F238E27FC236}">
                <a16:creationId xmlns:a16="http://schemas.microsoft.com/office/drawing/2014/main" id="{20493433-31E1-0800-5427-08DF0445B3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453"/>
            <a:ext cx="1504949" cy="1033112"/>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078B7EAC-1541-7193-A200-6955E3B0C5DC}"/>
              </a:ext>
            </a:extLst>
          </p:cNvPr>
          <p:cNvSpPr txBox="1">
            <a:spLocks noChangeArrowheads="1"/>
          </p:cNvSpPr>
          <p:nvPr/>
        </p:nvSpPr>
        <p:spPr>
          <a:xfrm>
            <a:off x="-1" y="6436129"/>
            <a:ext cx="12191997" cy="401782"/>
          </a:xfrm>
          <a:prstGeom prst="rect">
            <a:avLst/>
          </a:prstGeom>
          <a:solidFill>
            <a:srgbClr val="C00000"/>
          </a:solidFill>
        </p:spPr>
        <p:txBody>
          <a:bodyPr/>
          <a:lstStyle/>
          <a:p>
            <a:pPr>
              <a:lnSpc>
                <a:spcPct val="90000"/>
              </a:lnSpc>
              <a:spcBef>
                <a:spcPct val="0"/>
              </a:spcBef>
              <a:defRPr/>
            </a:pPr>
            <a:r>
              <a:rPr kumimoji="0" lang="en-IN" altLang="zh-CN" sz="2400" b="1" i="0" u="none" strike="noStrike" kern="1200" cap="none" spc="0" normalizeH="0" baseline="0" noProof="0" dirty="0">
                <a:ln>
                  <a:noFill/>
                </a:ln>
                <a:solidFill>
                  <a:schemeClr val="bg1"/>
                </a:solidFill>
                <a:effectLst/>
                <a:uLnTx/>
                <a:uFillTx/>
                <a:latin typeface="Tinos"/>
                <a:ea typeface="+mj-ea"/>
                <a:cs typeface="+mj-cs"/>
              </a:rPr>
              <a:t>          		</a:t>
            </a:r>
            <a:r>
              <a:rPr lang="en-IN" sz="2400" b="1" dirty="0">
                <a:solidFill>
                  <a:schemeClr val="bg1"/>
                </a:solidFill>
              </a:rPr>
              <a:t>                                              </a:t>
            </a:r>
            <a:endParaRPr lang="en-US" sz="2400" b="1" dirty="0">
              <a:solidFill>
                <a:schemeClr val="bg1"/>
              </a:solidFill>
            </a:endParaRPr>
          </a:p>
          <a:p>
            <a:pPr>
              <a:lnSpc>
                <a:spcPct val="90000"/>
              </a:lnSpc>
              <a:spcBef>
                <a:spcPct val="0"/>
              </a:spcBef>
              <a:defRPr/>
            </a:pPr>
            <a:endParaRPr lang="zh-CN" altLang="en-US" sz="2400" b="1" dirty="0">
              <a:solidFill>
                <a:schemeClr val="bg1"/>
              </a:solidFill>
              <a:latin typeface="Tinos"/>
            </a:endParaRPr>
          </a:p>
          <a:p>
            <a:pPr lvl="0">
              <a:lnSpc>
                <a:spcPct val="90000"/>
              </a:lnSpc>
              <a:spcBef>
                <a:spcPct val="0"/>
              </a:spcBef>
              <a:defRPr/>
            </a:pPr>
            <a:endParaRPr kumimoji="0" lang="en-IN" altLang="zh-CN" sz="2400" b="1" i="0" u="none" strike="noStrike" kern="1200" cap="none" spc="0" normalizeH="0" baseline="0" noProof="0" dirty="0">
              <a:ln>
                <a:noFill/>
              </a:ln>
              <a:solidFill>
                <a:schemeClr val="bg1"/>
              </a:solidFill>
              <a:effectLst/>
              <a:uLnTx/>
              <a:uFillTx/>
              <a:latin typeface="Tinos"/>
              <a:ea typeface="+mj-ea"/>
              <a:cs typeface="+mj-cs"/>
            </a:endParaRPr>
          </a:p>
        </p:txBody>
      </p:sp>
      <p:sp>
        <p:nvSpPr>
          <p:cNvPr id="9" name="TextBox 8">
            <a:extLst>
              <a:ext uri="{FF2B5EF4-FFF2-40B4-BE49-F238E27FC236}">
                <a16:creationId xmlns:a16="http://schemas.microsoft.com/office/drawing/2014/main" id="{51E92853-6C21-C7B2-A28D-5CB3A2083157}"/>
              </a:ext>
            </a:extLst>
          </p:cNvPr>
          <p:cNvSpPr txBox="1"/>
          <p:nvPr/>
        </p:nvSpPr>
        <p:spPr>
          <a:xfrm>
            <a:off x="1330036" y="1191490"/>
            <a:ext cx="10224655" cy="369332"/>
          </a:xfrm>
          <a:prstGeom prst="rect">
            <a:avLst/>
          </a:prstGeom>
          <a:noFill/>
        </p:spPr>
        <p:txBody>
          <a:bodyPr wrap="square" rtlCol="0">
            <a:spAutoFit/>
          </a:bodyPr>
          <a:lstStyle/>
          <a:p>
            <a:pPr marL="285750" indent="-285750">
              <a:buFont typeface="Wingdings" panose="05000000000000000000" pitchFamily="2" charset="2"/>
              <a:buChar char="Ø"/>
            </a:pPr>
            <a:r>
              <a:rPr lang="en-US" b="1" dirty="0"/>
              <a:t>Implementation Verification Table:</a:t>
            </a:r>
          </a:p>
        </p:txBody>
      </p:sp>
      <p:graphicFrame>
        <p:nvGraphicFramePr>
          <p:cNvPr id="4" name="Table 3">
            <a:extLst>
              <a:ext uri="{FF2B5EF4-FFF2-40B4-BE49-F238E27FC236}">
                <a16:creationId xmlns:a16="http://schemas.microsoft.com/office/drawing/2014/main" id="{F3C31B4E-BC2F-5543-8169-2EF1F95F4530}"/>
              </a:ext>
            </a:extLst>
          </p:cNvPr>
          <p:cNvGraphicFramePr>
            <a:graphicFrameLocks noGrp="1"/>
          </p:cNvGraphicFramePr>
          <p:nvPr>
            <p:extLst>
              <p:ext uri="{D42A27DB-BD31-4B8C-83A1-F6EECF244321}">
                <p14:modId xmlns:p14="http://schemas.microsoft.com/office/powerpoint/2010/main" val="3001291484"/>
              </p:ext>
            </p:extLst>
          </p:nvPr>
        </p:nvGraphicFramePr>
        <p:xfrm>
          <a:off x="1504943" y="1697745"/>
          <a:ext cx="10515600" cy="4724400"/>
        </p:xfrm>
        <a:graphic>
          <a:graphicData uri="http://schemas.openxmlformats.org/drawingml/2006/table">
            <a:tbl>
              <a:tblPr/>
              <a:tblGrid>
                <a:gridCol w="3505200">
                  <a:extLst>
                    <a:ext uri="{9D8B030D-6E8A-4147-A177-3AD203B41FA5}">
                      <a16:colId xmlns:a16="http://schemas.microsoft.com/office/drawing/2014/main" val="3031336318"/>
                    </a:ext>
                  </a:extLst>
                </a:gridCol>
                <a:gridCol w="3505200">
                  <a:extLst>
                    <a:ext uri="{9D8B030D-6E8A-4147-A177-3AD203B41FA5}">
                      <a16:colId xmlns:a16="http://schemas.microsoft.com/office/drawing/2014/main" val="3307619953"/>
                    </a:ext>
                  </a:extLst>
                </a:gridCol>
                <a:gridCol w="3505200">
                  <a:extLst>
                    <a:ext uri="{9D8B030D-6E8A-4147-A177-3AD203B41FA5}">
                      <a16:colId xmlns:a16="http://schemas.microsoft.com/office/drawing/2014/main" val="3555363942"/>
                    </a:ext>
                  </a:extLst>
                </a:gridCol>
              </a:tblGrid>
              <a:tr h="0">
                <a:tc>
                  <a:txBody>
                    <a:bodyPr/>
                    <a:lstStyle/>
                    <a:p>
                      <a:r>
                        <a:rPr lang="en-IN" sz="1600" b="1"/>
                        <a:t>Module</a:t>
                      </a:r>
                    </a:p>
                  </a:txBody>
                  <a:tcPr anchor="ctr">
                    <a:lnL>
                      <a:noFill/>
                    </a:lnL>
                    <a:lnR>
                      <a:noFill/>
                    </a:lnR>
                    <a:lnT>
                      <a:noFill/>
                    </a:lnT>
                    <a:lnB>
                      <a:noFill/>
                    </a:lnB>
                    <a:noFill/>
                  </a:tcPr>
                </a:tc>
                <a:tc>
                  <a:txBody>
                    <a:bodyPr/>
                    <a:lstStyle/>
                    <a:p>
                      <a:r>
                        <a:rPr lang="en-IN" sz="1600" b="1"/>
                        <a:t>Status</a:t>
                      </a:r>
                    </a:p>
                  </a:txBody>
                  <a:tcPr anchor="ctr">
                    <a:lnL>
                      <a:noFill/>
                    </a:lnL>
                    <a:lnR>
                      <a:noFill/>
                    </a:lnR>
                    <a:lnT>
                      <a:noFill/>
                    </a:lnT>
                    <a:lnB>
                      <a:noFill/>
                    </a:lnB>
                    <a:noFill/>
                  </a:tcPr>
                </a:tc>
                <a:tc>
                  <a:txBody>
                    <a:bodyPr/>
                    <a:lstStyle/>
                    <a:p>
                      <a:r>
                        <a:rPr lang="en-IN" sz="1600" b="1"/>
                        <a:t>Notes</a:t>
                      </a:r>
                    </a:p>
                  </a:txBody>
                  <a:tcPr anchor="ctr">
                    <a:lnL>
                      <a:noFill/>
                    </a:lnL>
                    <a:lnR>
                      <a:noFill/>
                    </a:lnR>
                    <a:lnT>
                      <a:noFill/>
                    </a:lnT>
                    <a:lnB>
                      <a:noFill/>
                    </a:lnB>
                    <a:noFill/>
                  </a:tcPr>
                </a:tc>
                <a:extLst>
                  <a:ext uri="{0D108BD9-81ED-4DB2-BD59-A6C34878D82A}">
                    <a16:rowId xmlns:a16="http://schemas.microsoft.com/office/drawing/2014/main" val="488718651"/>
                  </a:ext>
                </a:extLst>
              </a:tr>
              <a:tr h="0">
                <a:tc>
                  <a:txBody>
                    <a:bodyPr/>
                    <a:lstStyle/>
                    <a:p>
                      <a:r>
                        <a:rPr lang="en-IN" sz="1600"/>
                        <a:t>Data Pipeline</a:t>
                      </a:r>
                    </a:p>
                  </a:txBody>
                  <a:tcPr anchor="ctr">
                    <a:lnL>
                      <a:noFill/>
                    </a:lnL>
                    <a:lnR>
                      <a:noFill/>
                    </a:lnR>
                    <a:lnT>
                      <a:noFill/>
                    </a:lnT>
                    <a:lnB>
                      <a:noFill/>
                    </a:lnB>
                    <a:noFill/>
                  </a:tcPr>
                </a:tc>
                <a:tc>
                  <a:txBody>
                    <a:bodyPr/>
                    <a:lstStyle/>
                    <a:p>
                      <a:r>
                        <a:rPr lang="en-IN" sz="1600"/>
                        <a:t>Complete</a:t>
                      </a:r>
                    </a:p>
                  </a:txBody>
                  <a:tcPr anchor="ctr">
                    <a:lnL>
                      <a:noFill/>
                    </a:lnL>
                    <a:lnR>
                      <a:noFill/>
                    </a:lnR>
                    <a:lnT>
                      <a:noFill/>
                    </a:lnT>
                    <a:lnB>
                      <a:noFill/>
                    </a:lnB>
                    <a:noFill/>
                  </a:tcPr>
                </a:tc>
                <a:tc>
                  <a:txBody>
                    <a:bodyPr/>
                    <a:lstStyle/>
                    <a:p>
                      <a:r>
                        <a:rPr lang="en-IN" sz="1600"/>
                        <a:t>Real NIFTY 50, Sensex, Gold data — verified</a:t>
                      </a:r>
                    </a:p>
                  </a:txBody>
                  <a:tcPr anchor="ctr">
                    <a:lnL>
                      <a:noFill/>
                    </a:lnL>
                    <a:lnR>
                      <a:noFill/>
                    </a:lnR>
                    <a:lnT>
                      <a:noFill/>
                    </a:lnT>
                    <a:lnB>
                      <a:noFill/>
                    </a:lnB>
                    <a:noFill/>
                  </a:tcPr>
                </a:tc>
                <a:extLst>
                  <a:ext uri="{0D108BD9-81ED-4DB2-BD59-A6C34878D82A}">
                    <a16:rowId xmlns:a16="http://schemas.microsoft.com/office/drawing/2014/main" val="4028363660"/>
                  </a:ext>
                </a:extLst>
              </a:tr>
              <a:tr h="0">
                <a:tc>
                  <a:txBody>
                    <a:bodyPr/>
                    <a:lstStyle/>
                    <a:p>
                      <a:r>
                        <a:rPr lang="en-IN" sz="1600"/>
                        <a:t>Trading Environment</a:t>
                      </a:r>
                    </a:p>
                  </a:txBody>
                  <a:tcPr anchor="ctr">
                    <a:lnL>
                      <a:noFill/>
                    </a:lnL>
                    <a:lnR>
                      <a:noFill/>
                    </a:lnR>
                    <a:lnT>
                      <a:noFill/>
                    </a:lnT>
                    <a:lnB>
                      <a:noFill/>
                    </a:lnB>
                    <a:noFill/>
                  </a:tcPr>
                </a:tc>
                <a:tc>
                  <a:txBody>
                    <a:bodyPr/>
                    <a:lstStyle/>
                    <a:p>
                      <a:r>
                        <a:rPr lang="en-IN" sz="1600"/>
                        <a:t>Complete</a:t>
                      </a:r>
                    </a:p>
                  </a:txBody>
                  <a:tcPr anchor="ctr">
                    <a:lnL>
                      <a:noFill/>
                    </a:lnL>
                    <a:lnR>
                      <a:noFill/>
                    </a:lnR>
                    <a:lnT>
                      <a:noFill/>
                    </a:lnT>
                    <a:lnB>
                      <a:noFill/>
                    </a:lnB>
                    <a:noFill/>
                  </a:tcPr>
                </a:tc>
                <a:tc>
                  <a:txBody>
                    <a:bodyPr/>
                    <a:lstStyle/>
                    <a:p>
                      <a:r>
                        <a:rPr lang="en-IN" sz="1600" dirty="0"/>
                        <a:t>10-dim obs, shaped reward, 5 broken envs — all pass</a:t>
                      </a:r>
                    </a:p>
                  </a:txBody>
                  <a:tcPr anchor="ctr">
                    <a:lnL>
                      <a:noFill/>
                    </a:lnL>
                    <a:lnR>
                      <a:noFill/>
                    </a:lnR>
                    <a:lnT>
                      <a:noFill/>
                    </a:lnT>
                    <a:lnB>
                      <a:noFill/>
                    </a:lnB>
                    <a:noFill/>
                  </a:tcPr>
                </a:tc>
                <a:extLst>
                  <a:ext uri="{0D108BD9-81ED-4DB2-BD59-A6C34878D82A}">
                    <a16:rowId xmlns:a16="http://schemas.microsoft.com/office/drawing/2014/main" val="4251475437"/>
                  </a:ext>
                </a:extLst>
              </a:tr>
              <a:tr h="0">
                <a:tc>
                  <a:txBody>
                    <a:bodyPr/>
                    <a:lstStyle/>
                    <a:p>
                      <a:r>
                        <a:rPr lang="en-IN" sz="1600"/>
                        <a:t>PPO Agent</a:t>
                      </a:r>
                    </a:p>
                  </a:txBody>
                  <a:tcPr anchor="ctr">
                    <a:lnL>
                      <a:noFill/>
                    </a:lnL>
                    <a:lnR>
                      <a:noFill/>
                    </a:lnR>
                    <a:lnT>
                      <a:noFill/>
                    </a:lnT>
                    <a:lnB>
                      <a:noFill/>
                    </a:lnB>
                    <a:noFill/>
                  </a:tcPr>
                </a:tc>
                <a:tc>
                  <a:txBody>
                    <a:bodyPr/>
                    <a:lstStyle/>
                    <a:p>
                      <a:r>
                        <a:rPr lang="en-IN" sz="1600"/>
                        <a:t>Partial (20%)</a:t>
                      </a:r>
                    </a:p>
                  </a:txBody>
                  <a:tcPr anchor="ctr">
                    <a:lnL>
                      <a:noFill/>
                    </a:lnL>
                    <a:lnR>
                      <a:noFill/>
                    </a:lnR>
                    <a:lnT>
                      <a:noFill/>
                    </a:lnT>
                    <a:lnB>
                      <a:noFill/>
                    </a:lnB>
                    <a:noFill/>
                  </a:tcPr>
                </a:tc>
                <a:tc>
                  <a:txBody>
                    <a:bodyPr/>
                    <a:lstStyle/>
                    <a:p>
                      <a:r>
                        <a:rPr lang="en-IN" sz="1600"/>
                        <a:t>Smoke test passed. Full 500k-step training in progress.</a:t>
                      </a:r>
                    </a:p>
                  </a:txBody>
                  <a:tcPr anchor="ctr">
                    <a:lnL>
                      <a:noFill/>
                    </a:lnL>
                    <a:lnR>
                      <a:noFill/>
                    </a:lnR>
                    <a:lnT>
                      <a:noFill/>
                    </a:lnT>
                    <a:lnB>
                      <a:noFill/>
                    </a:lnB>
                    <a:noFill/>
                  </a:tcPr>
                </a:tc>
                <a:extLst>
                  <a:ext uri="{0D108BD9-81ED-4DB2-BD59-A6C34878D82A}">
                    <a16:rowId xmlns:a16="http://schemas.microsoft.com/office/drawing/2014/main" val="1100206935"/>
                  </a:ext>
                </a:extLst>
              </a:tr>
              <a:tr h="0">
                <a:tc>
                  <a:txBody>
                    <a:bodyPr/>
                    <a:lstStyle/>
                    <a:p>
                      <a:r>
                        <a:rPr lang="en-US" sz="1600" dirty="0"/>
                        <a:t>LSTM Diagnostic</a:t>
                      </a:r>
                    </a:p>
                  </a:txBody>
                  <a:tcPr anchor="ctr">
                    <a:lnL>
                      <a:noFill/>
                    </a:lnL>
                    <a:lnR>
                      <a:noFill/>
                    </a:lnR>
                    <a:lnT>
                      <a:noFill/>
                    </a:lnT>
                    <a:lnB>
                      <a:noFill/>
                    </a:lnB>
                    <a:noFill/>
                  </a:tcPr>
                </a:tc>
                <a:tc>
                  <a:txBody>
                    <a:bodyPr/>
                    <a:lstStyle/>
                    <a:p>
                      <a:r>
                        <a:rPr lang="en-US" sz="1600" dirty="0"/>
                        <a:t>Code complete</a:t>
                      </a:r>
                    </a:p>
                  </a:txBody>
                  <a:tcPr anchor="ctr">
                    <a:lnL>
                      <a:noFill/>
                    </a:lnL>
                    <a:lnR>
                      <a:noFill/>
                    </a:lnR>
                    <a:lnT>
                      <a:noFill/>
                    </a:lnT>
                    <a:lnB>
                      <a:noFill/>
                    </a:lnB>
                    <a:noFill/>
                  </a:tcPr>
                </a:tc>
                <a:tc>
                  <a:txBody>
                    <a:bodyPr/>
                    <a:lstStyle/>
                    <a:p>
                      <a:r>
                        <a:rPr lang="en-US" sz="1600" dirty="0"/>
                        <a:t>Architecture verified. Training pending.</a:t>
                      </a:r>
                    </a:p>
                  </a:txBody>
                  <a:tcPr anchor="ctr">
                    <a:lnL>
                      <a:noFill/>
                    </a:lnL>
                    <a:lnR>
                      <a:noFill/>
                    </a:lnR>
                    <a:lnT>
                      <a:noFill/>
                    </a:lnT>
                    <a:lnB>
                      <a:noFill/>
                    </a:lnB>
                    <a:noFill/>
                  </a:tcPr>
                </a:tc>
                <a:extLst>
                  <a:ext uri="{0D108BD9-81ED-4DB2-BD59-A6C34878D82A}">
                    <a16:rowId xmlns:a16="http://schemas.microsoft.com/office/drawing/2014/main" val="3460970078"/>
                  </a:ext>
                </a:extLst>
              </a:tr>
              <a:tr h="0">
                <a:tc>
                  <a:txBody>
                    <a:bodyPr/>
                    <a:lstStyle/>
                    <a:p>
                      <a:r>
                        <a:rPr lang="en-US" sz="1600" dirty="0"/>
                        <a:t>SAC Meta-Policy</a:t>
                      </a:r>
                    </a:p>
                  </a:txBody>
                  <a:tcPr anchor="ctr">
                    <a:lnL>
                      <a:noFill/>
                    </a:lnL>
                    <a:lnR>
                      <a:noFill/>
                    </a:lnR>
                    <a:lnT>
                      <a:noFill/>
                    </a:lnT>
                    <a:lnB>
                      <a:noFill/>
                    </a:lnB>
                    <a:noFill/>
                  </a:tcPr>
                </a:tc>
                <a:tc>
                  <a:txBody>
                    <a:bodyPr/>
                    <a:lstStyle/>
                    <a:p>
                      <a:r>
                        <a:rPr lang="en-US" sz="1600" dirty="0"/>
                        <a:t>Code complete</a:t>
                      </a:r>
                    </a:p>
                  </a:txBody>
                  <a:tcPr anchor="ctr">
                    <a:lnL>
                      <a:noFill/>
                    </a:lnL>
                    <a:lnR>
                      <a:noFill/>
                    </a:lnR>
                    <a:lnT>
                      <a:noFill/>
                    </a:lnT>
                    <a:lnB>
                      <a:noFill/>
                    </a:lnB>
                    <a:noFill/>
                  </a:tcPr>
                </a:tc>
                <a:tc>
                  <a:txBody>
                    <a:bodyPr/>
                    <a:lstStyle/>
                    <a:p>
                      <a:r>
                        <a:rPr lang="en-US" sz="1600" dirty="0"/>
                        <a:t>MetaEnv + SAC + inference — all import-verified.</a:t>
                      </a:r>
                    </a:p>
                  </a:txBody>
                  <a:tcPr anchor="ctr">
                    <a:lnL>
                      <a:noFill/>
                    </a:lnL>
                    <a:lnR>
                      <a:noFill/>
                    </a:lnR>
                    <a:lnT>
                      <a:noFill/>
                    </a:lnT>
                    <a:lnB>
                      <a:noFill/>
                    </a:lnB>
                    <a:noFill/>
                  </a:tcPr>
                </a:tc>
                <a:extLst>
                  <a:ext uri="{0D108BD9-81ED-4DB2-BD59-A6C34878D82A}">
                    <a16:rowId xmlns:a16="http://schemas.microsoft.com/office/drawing/2014/main" val="4006472023"/>
                  </a:ext>
                </a:extLst>
              </a:tr>
              <a:tr h="0">
                <a:tc>
                  <a:txBody>
                    <a:bodyPr/>
                    <a:lstStyle/>
                    <a:p>
                      <a:r>
                        <a:rPr lang="en-US" sz="1600" dirty="0"/>
                        <a:t>Reward Fix Applicators</a:t>
                      </a:r>
                    </a:p>
                  </a:txBody>
                  <a:tcPr anchor="ctr">
                    <a:lnL>
                      <a:noFill/>
                    </a:lnL>
                    <a:lnR>
                      <a:noFill/>
                    </a:lnR>
                    <a:lnT>
                      <a:noFill/>
                    </a:lnT>
                    <a:lnB>
                      <a:noFill/>
                    </a:lnB>
                    <a:noFill/>
                  </a:tcPr>
                </a:tc>
                <a:tc>
                  <a:txBody>
                    <a:bodyPr/>
                    <a:lstStyle/>
                    <a:p>
                      <a:r>
                        <a:rPr lang="en-US" sz="1600" dirty="0"/>
                        <a:t>Complete</a:t>
                      </a:r>
                    </a:p>
                  </a:txBody>
                  <a:tcPr anchor="ctr">
                    <a:lnL>
                      <a:noFill/>
                    </a:lnL>
                    <a:lnR>
                      <a:noFill/>
                    </a:lnR>
                    <a:lnT>
                      <a:noFill/>
                    </a:lnT>
                    <a:lnB>
                      <a:noFill/>
                    </a:lnB>
                    <a:noFill/>
                  </a:tcPr>
                </a:tc>
                <a:tc>
                  <a:txBody>
                    <a:bodyPr/>
                    <a:lstStyle/>
                    <a:p>
                      <a:r>
                        <a:rPr lang="en-US" sz="1600" dirty="0"/>
                        <a:t>All 6 fixes correct, vector roundtrip verified.</a:t>
                      </a:r>
                    </a:p>
                  </a:txBody>
                  <a:tcPr anchor="ctr">
                    <a:lnL>
                      <a:noFill/>
                    </a:lnL>
                    <a:lnR>
                      <a:noFill/>
                    </a:lnR>
                    <a:lnT>
                      <a:noFill/>
                    </a:lnT>
                    <a:lnB>
                      <a:noFill/>
                    </a:lnB>
                    <a:noFill/>
                  </a:tcPr>
                </a:tc>
                <a:extLst>
                  <a:ext uri="{0D108BD9-81ED-4DB2-BD59-A6C34878D82A}">
                    <a16:rowId xmlns:a16="http://schemas.microsoft.com/office/drawing/2014/main" val="1422592829"/>
                  </a:ext>
                </a:extLst>
              </a:tr>
              <a:tr h="0">
                <a:tc>
                  <a:txBody>
                    <a:bodyPr/>
                    <a:lstStyle/>
                    <a:p>
                      <a:r>
                        <a:rPr lang="en-US" sz="1600" dirty="0"/>
                        <a:t>Ablation Framework</a:t>
                      </a:r>
                    </a:p>
                  </a:txBody>
                  <a:tcPr anchor="ctr">
                    <a:lnL>
                      <a:noFill/>
                    </a:lnL>
                    <a:lnR>
                      <a:noFill/>
                    </a:lnR>
                    <a:lnT>
                      <a:noFill/>
                    </a:lnT>
                    <a:lnB>
                      <a:noFill/>
                    </a:lnB>
                    <a:noFill/>
                  </a:tcPr>
                </a:tc>
                <a:tc>
                  <a:txBody>
                    <a:bodyPr/>
                    <a:lstStyle/>
                    <a:p>
                      <a:r>
                        <a:rPr lang="en-US" sz="1600" dirty="0"/>
                        <a:t>Code complete</a:t>
                      </a:r>
                    </a:p>
                  </a:txBody>
                  <a:tcPr anchor="ctr">
                    <a:lnL>
                      <a:noFill/>
                    </a:lnL>
                    <a:lnR>
                      <a:noFill/>
                    </a:lnR>
                    <a:lnT>
                      <a:noFill/>
                    </a:lnT>
                    <a:lnB>
                      <a:noFill/>
                    </a:lnB>
                    <a:noFill/>
                  </a:tcPr>
                </a:tc>
                <a:tc>
                  <a:txBody>
                    <a:bodyPr/>
                    <a:lstStyle/>
                    <a:p>
                      <a:r>
                        <a:rPr lang="en-US" sz="1600" dirty="0"/>
                        <a:t>All 4 conditions importable and structurally verified.</a:t>
                      </a:r>
                    </a:p>
                  </a:txBody>
                  <a:tcPr anchor="ctr">
                    <a:lnL>
                      <a:noFill/>
                    </a:lnL>
                    <a:lnR>
                      <a:noFill/>
                    </a:lnR>
                    <a:lnT>
                      <a:noFill/>
                    </a:lnT>
                    <a:lnB>
                      <a:noFill/>
                    </a:lnB>
                    <a:noFill/>
                  </a:tcPr>
                </a:tc>
                <a:extLst>
                  <a:ext uri="{0D108BD9-81ED-4DB2-BD59-A6C34878D82A}">
                    <a16:rowId xmlns:a16="http://schemas.microsoft.com/office/drawing/2014/main" val="1087023930"/>
                  </a:ext>
                </a:extLst>
              </a:tr>
              <a:tr h="0">
                <a:tc>
                  <a:txBody>
                    <a:bodyPr/>
                    <a:lstStyle/>
                    <a:p>
                      <a:r>
                        <a:rPr lang="en-IN" sz="1600"/>
                        <a:t>Dashboard (7 tabs)</a:t>
                      </a:r>
                    </a:p>
                  </a:txBody>
                  <a:tcPr anchor="ctr">
                    <a:lnL>
                      <a:noFill/>
                    </a:lnL>
                    <a:lnR>
                      <a:noFill/>
                    </a:lnR>
                    <a:lnT>
                      <a:noFill/>
                    </a:lnT>
                    <a:lnB>
                      <a:noFill/>
                    </a:lnB>
                    <a:noFill/>
                  </a:tcPr>
                </a:tc>
                <a:tc>
                  <a:txBody>
                    <a:bodyPr/>
                    <a:lstStyle/>
                    <a:p>
                      <a:r>
                        <a:rPr lang="en-IN" sz="1600"/>
                        <a:t>Code complete</a:t>
                      </a:r>
                    </a:p>
                  </a:txBody>
                  <a:tcPr anchor="ctr">
                    <a:lnL>
                      <a:noFill/>
                    </a:lnL>
                    <a:lnR>
                      <a:noFill/>
                    </a:lnR>
                    <a:lnT>
                      <a:noFill/>
                    </a:lnT>
                    <a:lnB>
                      <a:noFill/>
                    </a:lnB>
                    <a:noFill/>
                  </a:tcPr>
                </a:tc>
                <a:tc>
                  <a:txBody>
                    <a:bodyPr/>
                    <a:lstStyle/>
                    <a:p>
                      <a:r>
                        <a:rPr lang="en-IN" sz="1600"/>
                        <a:t>Server starts clean. All 7 tabs render without errors.</a:t>
                      </a:r>
                    </a:p>
                  </a:txBody>
                  <a:tcPr anchor="ctr">
                    <a:lnL>
                      <a:noFill/>
                    </a:lnL>
                    <a:lnR>
                      <a:noFill/>
                    </a:lnR>
                    <a:lnT>
                      <a:noFill/>
                    </a:lnT>
                    <a:lnB>
                      <a:noFill/>
                    </a:lnB>
                    <a:noFill/>
                  </a:tcPr>
                </a:tc>
                <a:extLst>
                  <a:ext uri="{0D108BD9-81ED-4DB2-BD59-A6C34878D82A}">
                    <a16:rowId xmlns:a16="http://schemas.microsoft.com/office/drawing/2014/main" val="414653014"/>
                  </a:ext>
                </a:extLst>
              </a:tr>
            </a:tbl>
          </a:graphicData>
        </a:graphic>
      </p:graphicFrame>
    </p:spTree>
    <p:extLst>
      <p:ext uri="{BB962C8B-B14F-4D97-AF65-F5344CB8AC3E}">
        <p14:creationId xmlns:p14="http://schemas.microsoft.com/office/powerpoint/2010/main" val="4236196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DD35C-6691-74A4-C972-06464A05CC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835936-3B8A-F116-9869-C10E0DD398A3}"/>
              </a:ext>
            </a:extLst>
          </p:cNvPr>
          <p:cNvSpPr txBox="1">
            <a:spLocks noChangeArrowheads="1"/>
          </p:cNvSpPr>
          <p:nvPr/>
        </p:nvSpPr>
        <p:spPr>
          <a:xfrm>
            <a:off x="1504943" y="-18057"/>
            <a:ext cx="10687051" cy="1033112"/>
          </a:xfrm>
          <a:prstGeom prst="rect">
            <a:avLst/>
          </a:prstGeom>
          <a:solidFill>
            <a:srgbClr val="C00000"/>
          </a:solidFill>
        </p:spPr>
        <p:txBody>
          <a:bodyPr/>
          <a:lstStyle/>
          <a:p>
            <a:r>
              <a:rPr lang="es-ES" sz="4000" b="1" dirty="0">
                <a:latin typeface="Candara" charset="0"/>
                <a:cs typeface="Arial" charset="0"/>
              </a:rPr>
              <a:t>                            </a:t>
            </a:r>
            <a:r>
              <a:rPr lang="es-ES" sz="4000" b="1" dirty="0" err="1">
                <a:solidFill>
                  <a:schemeClr val="bg1"/>
                </a:solidFill>
                <a:latin typeface="Times New Roman" panose="02020603050405020304" pitchFamily="18" charset="0"/>
                <a:cs typeface="Times New Roman" panose="02020603050405020304" pitchFamily="18" charset="0"/>
              </a:rPr>
              <a:t>Result</a:t>
            </a:r>
            <a:r>
              <a:rPr lang="es-ES" sz="4000" b="1" dirty="0">
                <a:latin typeface="Candara" charset="0"/>
                <a:cs typeface="Arial" charset="0"/>
              </a:rPr>
              <a:t> </a:t>
            </a:r>
            <a:r>
              <a:rPr lang="es-ES" sz="4000" b="1" dirty="0" err="1">
                <a:solidFill>
                  <a:schemeClr val="bg1"/>
                </a:solidFill>
                <a:latin typeface="Times New Roman" panose="02020603050405020304" pitchFamily="18" charset="0"/>
                <a:cs typeface="Times New Roman" panose="02020603050405020304" pitchFamily="18" charset="0"/>
              </a:rPr>
              <a:t>Analysis</a:t>
            </a:r>
            <a:r>
              <a:rPr lang="es-ES" sz="4000" b="1" dirty="0">
                <a:solidFill>
                  <a:schemeClr val="bg1"/>
                </a:solidFill>
                <a:latin typeface="Times New Roman" panose="02020603050405020304" pitchFamily="18" charset="0"/>
                <a:cs typeface="Times New Roman" panose="02020603050405020304" pitchFamily="18" charset="0"/>
              </a:rPr>
              <a:t> </a:t>
            </a:r>
            <a:r>
              <a:rPr lang="en-IN" sz="4000" b="1" dirty="0" err="1">
                <a:solidFill>
                  <a:schemeClr val="bg1"/>
                </a:solidFill>
                <a:latin typeface="Times New Roman" panose="02020603050405020304" pitchFamily="18" charset="0"/>
                <a:cs typeface="Times New Roman" panose="02020603050405020304" pitchFamily="18" charset="0"/>
              </a:rPr>
              <a:t>Contd</a:t>
            </a:r>
            <a:r>
              <a:rPr lang="en-IN" sz="4000" b="1" dirty="0">
                <a:solidFill>
                  <a:schemeClr val="bg1"/>
                </a:solidFill>
                <a:latin typeface="Times New Roman" panose="02020603050405020304" pitchFamily="18" charset="0"/>
                <a:cs typeface="Times New Roman" panose="02020603050405020304" pitchFamily="18" charset="0"/>
              </a:rPr>
              <a:t>…</a:t>
            </a:r>
          </a:p>
          <a:p>
            <a:endParaRPr lang="es-ES" sz="4000" dirty="0">
              <a:latin typeface="Candara" charset="0"/>
              <a:cs typeface="Arial" charset="0"/>
            </a:endParaRPr>
          </a:p>
          <a:p>
            <a:pPr algn="ctr" fontAlgn="base"/>
            <a:r>
              <a:rPr lang="en-IN" sz="4000" b="1" dirty="0">
                <a:solidFill>
                  <a:schemeClr val="bg1"/>
                </a:solidFill>
                <a:latin typeface="Times New Roman" panose="02020603050405020304" pitchFamily="18" charset="0"/>
                <a:cs typeface="Times New Roman" panose="02020603050405020304" pitchFamily="18" charset="0"/>
              </a:rPr>
              <a:t>                                 </a:t>
            </a:r>
            <a:endParaRPr lang="en-IN" sz="4000" dirty="0">
              <a:solidFill>
                <a:schemeClr val="bg1"/>
              </a:solidFill>
              <a:latin typeface="Times New Roman" panose="02020603050405020304" pitchFamily="18" charset="0"/>
              <a:cs typeface="Times New Roman" panose="02020603050405020304" pitchFamily="18" charset="0"/>
            </a:endParaRPr>
          </a:p>
        </p:txBody>
      </p:sp>
      <p:pic>
        <p:nvPicPr>
          <p:cNvPr id="3" name="Picture 4" descr="https://galgotiacollege.edu/public/uploads/all/3106/phelosophy.jpeg">
            <a:extLst>
              <a:ext uri="{FF2B5EF4-FFF2-40B4-BE49-F238E27FC236}">
                <a16:creationId xmlns:a16="http://schemas.microsoft.com/office/drawing/2014/main" id="{07BE1DD5-2E5E-B69D-A58F-0C23CCB163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453"/>
            <a:ext cx="1504949" cy="1033112"/>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9E8BFE8D-CBB6-CCC8-E1D2-44AAE17BA9CB}"/>
              </a:ext>
            </a:extLst>
          </p:cNvPr>
          <p:cNvSpPr txBox="1">
            <a:spLocks noChangeArrowheads="1"/>
          </p:cNvSpPr>
          <p:nvPr/>
        </p:nvSpPr>
        <p:spPr>
          <a:xfrm>
            <a:off x="-1" y="6436129"/>
            <a:ext cx="12191997" cy="401782"/>
          </a:xfrm>
          <a:prstGeom prst="rect">
            <a:avLst/>
          </a:prstGeom>
          <a:solidFill>
            <a:srgbClr val="C00000"/>
          </a:solidFill>
        </p:spPr>
        <p:txBody>
          <a:bodyPr/>
          <a:lstStyle/>
          <a:p>
            <a:pPr>
              <a:lnSpc>
                <a:spcPct val="90000"/>
              </a:lnSpc>
              <a:spcBef>
                <a:spcPct val="0"/>
              </a:spcBef>
              <a:defRPr/>
            </a:pPr>
            <a:r>
              <a:rPr kumimoji="0" lang="en-IN" altLang="zh-CN" sz="2400" b="1" i="0" u="none" strike="noStrike" kern="1200" cap="none" spc="0" normalizeH="0" baseline="0" noProof="0" dirty="0">
                <a:ln>
                  <a:noFill/>
                </a:ln>
                <a:solidFill>
                  <a:schemeClr val="bg1"/>
                </a:solidFill>
                <a:effectLst/>
                <a:uLnTx/>
                <a:uFillTx/>
                <a:latin typeface="Tinos"/>
                <a:ea typeface="+mj-ea"/>
                <a:cs typeface="+mj-cs"/>
              </a:rPr>
              <a:t>          		</a:t>
            </a:r>
            <a:r>
              <a:rPr lang="en-IN" sz="2400" b="1" dirty="0">
                <a:solidFill>
                  <a:schemeClr val="bg1"/>
                </a:solidFill>
              </a:rPr>
              <a:t>                                              </a:t>
            </a:r>
            <a:endParaRPr lang="en-US" sz="2400" b="1" dirty="0">
              <a:solidFill>
                <a:schemeClr val="bg1"/>
              </a:solidFill>
            </a:endParaRPr>
          </a:p>
          <a:p>
            <a:pPr>
              <a:lnSpc>
                <a:spcPct val="90000"/>
              </a:lnSpc>
              <a:spcBef>
                <a:spcPct val="0"/>
              </a:spcBef>
              <a:defRPr/>
            </a:pPr>
            <a:endParaRPr lang="zh-CN" altLang="en-US" sz="2400" b="1" dirty="0">
              <a:solidFill>
                <a:schemeClr val="bg1"/>
              </a:solidFill>
              <a:latin typeface="Tinos"/>
            </a:endParaRPr>
          </a:p>
          <a:p>
            <a:pPr lvl="0">
              <a:lnSpc>
                <a:spcPct val="90000"/>
              </a:lnSpc>
              <a:spcBef>
                <a:spcPct val="0"/>
              </a:spcBef>
              <a:defRPr/>
            </a:pPr>
            <a:endParaRPr kumimoji="0" lang="en-IN" altLang="zh-CN" sz="2400" b="1" i="0" u="none" strike="noStrike" kern="1200" cap="none" spc="0" normalizeH="0" baseline="0" noProof="0" dirty="0">
              <a:ln>
                <a:noFill/>
              </a:ln>
              <a:solidFill>
                <a:schemeClr val="bg1"/>
              </a:solidFill>
              <a:effectLst/>
              <a:uLnTx/>
              <a:uFillTx/>
              <a:latin typeface="Tinos"/>
              <a:ea typeface="+mj-ea"/>
              <a:cs typeface="+mj-cs"/>
            </a:endParaRPr>
          </a:p>
        </p:txBody>
      </p:sp>
      <p:sp>
        <p:nvSpPr>
          <p:cNvPr id="9" name="TextBox 8">
            <a:extLst>
              <a:ext uri="{FF2B5EF4-FFF2-40B4-BE49-F238E27FC236}">
                <a16:creationId xmlns:a16="http://schemas.microsoft.com/office/drawing/2014/main" id="{51E5315F-43A4-1822-7153-7D57400918CC}"/>
              </a:ext>
            </a:extLst>
          </p:cNvPr>
          <p:cNvSpPr txBox="1"/>
          <p:nvPr/>
        </p:nvSpPr>
        <p:spPr>
          <a:xfrm>
            <a:off x="1333500" y="1193800"/>
            <a:ext cx="10223500" cy="3851504"/>
          </a:xfrm>
          <a:prstGeom prst="rect">
            <a:avLst/>
          </a:prstGeom>
          <a:noFill/>
        </p:spPr>
        <p:txBody>
          <a:bodyPr wrap="square" rtlCol="0">
            <a:spAutoFit/>
          </a:bodyPr>
          <a:lstStyle/>
          <a:p>
            <a:pPr marL="285750" indent="-285750">
              <a:lnSpc>
                <a:spcPct val="120000"/>
              </a:lnSpc>
              <a:spcAft>
                <a:spcPts val="1800"/>
              </a:spcAft>
              <a:buFont typeface="Wingdings" panose="05000000000000000000" pitchFamily="2" charset="2"/>
              <a:buChar char="Ø"/>
            </a:pPr>
            <a:r>
              <a:rPr lang="en-US" sz="1600" b="1" dirty="0"/>
              <a:t>Bugs Found and Fixed: </a:t>
            </a:r>
            <a:r>
              <a:rPr lang="en-US" sz="1600" dirty="0"/>
              <a:t>5 real integration bugs were found and fixed during testing.</a:t>
            </a:r>
          </a:p>
          <a:p>
            <a:pPr marL="285750" indent="-285750">
              <a:lnSpc>
                <a:spcPct val="120000"/>
              </a:lnSpc>
              <a:spcAft>
                <a:spcPts val="1800"/>
              </a:spcAft>
              <a:buFont typeface="Wingdings" panose="05000000000000000000" pitchFamily="2" charset="2"/>
              <a:buChar char="Ø"/>
            </a:pPr>
            <a:r>
              <a:rPr lang="en-US" sz="1400" b="1" dirty="0"/>
              <a:t>Bug 1: </a:t>
            </a:r>
            <a:r>
              <a:rPr lang="en-US" sz="1400" dirty="0"/>
              <a:t>normalise() did not preserve raw Close price - TradingEnv traded on the min-max-scaled value. Fixed by carrying Close_raw alongside normalised features.</a:t>
            </a:r>
          </a:p>
          <a:p>
            <a:pPr marL="285750" indent="-285750">
              <a:lnSpc>
                <a:spcPct val="120000"/>
              </a:lnSpc>
              <a:spcAft>
                <a:spcPts val="1800"/>
              </a:spcAft>
              <a:buFont typeface="Wingdings" panose="05000000000000000000" pitchFamily="2" charset="2"/>
              <a:buChar char="Ø"/>
            </a:pPr>
            <a:r>
              <a:rPr lang="en-US" sz="1400" b="1" dirty="0"/>
              <a:t>Bug 2: </a:t>
            </a:r>
            <a:r>
              <a:rPr lang="en-US" sz="1400" dirty="0"/>
              <a:t>split_all() double-normalised bear/sideways data. Fixed by fitting on bull only and transforming bear/sideways.</a:t>
            </a:r>
          </a:p>
          <a:p>
            <a:pPr marL="285750" indent="-285750">
              <a:lnSpc>
                <a:spcPct val="120000"/>
              </a:lnSpc>
              <a:spcAft>
                <a:spcPts val="1800"/>
              </a:spcAft>
              <a:buFont typeface="Wingdings" panose="05000000000000000000" pitchFamily="2" charset="2"/>
              <a:buChar char="Ø"/>
            </a:pPr>
            <a:r>
              <a:rPr lang="en-US" sz="1400" b="1" dirty="0"/>
              <a:t>Bug 3: </a:t>
            </a:r>
            <a:r>
              <a:rPr lang="en-US" sz="1400" dirty="0"/>
              <a:t>get_trajectory() max-drawdown formula was wrong. Replaced with max() over per-step live drawdown values already computed.</a:t>
            </a:r>
          </a:p>
          <a:p>
            <a:pPr marL="285750" indent="-285750">
              <a:lnSpc>
                <a:spcPct val="120000"/>
              </a:lnSpc>
              <a:spcAft>
                <a:spcPts val="1800"/>
              </a:spcAft>
              <a:buFont typeface="Wingdings" panose="05000000000000000000" pitchFamily="2" charset="2"/>
              <a:buChar char="Ø"/>
            </a:pPr>
            <a:r>
              <a:rPr lang="en-US" sz="1400" b="1" dirty="0"/>
              <a:t>Bug 4: </a:t>
            </a:r>
            <a:r>
              <a:rPr lang="en-US" sz="1400" dirty="0"/>
              <a:t>Broken environment subclasses caused a KeyError from a missing reward config key. Fixed by merging with DEFAULT_REWARD_CONFIG before overriding.</a:t>
            </a:r>
          </a:p>
          <a:p>
            <a:pPr marL="285750" indent="-285750">
              <a:lnSpc>
                <a:spcPct val="120000"/>
              </a:lnSpc>
              <a:spcAft>
                <a:spcPts val="1800"/>
              </a:spcAft>
              <a:buFont typeface="Wingdings" panose="05000000000000000000" pitchFamily="2" charset="2"/>
              <a:buChar char="Ø"/>
            </a:pPr>
            <a:r>
              <a:rPr lang="en-US" sz="1400" b="1" dirty="0"/>
              <a:t>Bug 5: </a:t>
            </a:r>
            <a:r>
              <a:rPr lang="en-US" sz="1400" dirty="0"/>
              <a:t>run_meta_inference() caused a train/inference distribution mismatch. Fixed by reusing MetaEnv._build_obs() directly in inference.</a:t>
            </a:r>
          </a:p>
        </p:txBody>
      </p:sp>
    </p:spTree>
    <p:extLst>
      <p:ext uri="{BB962C8B-B14F-4D97-AF65-F5344CB8AC3E}">
        <p14:creationId xmlns:p14="http://schemas.microsoft.com/office/powerpoint/2010/main" val="8695471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9ED99B-DBC5-4426-BBC6-8BBB2E2998D2}"/>
              </a:ext>
            </a:extLst>
          </p:cNvPr>
          <p:cNvSpPr txBox="1">
            <a:spLocks noChangeArrowheads="1"/>
          </p:cNvSpPr>
          <p:nvPr/>
        </p:nvSpPr>
        <p:spPr>
          <a:xfrm>
            <a:off x="1504943" y="-18057"/>
            <a:ext cx="10687051" cy="1033112"/>
          </a:xfrm>
          <a:prstGeom prst="rect">
            <a:avLst/>
          </a:prstGeom>
          <a:solidFill>
            <a:srgbClr val="C00000"/>
          </a:solidFill>
        </p:spPr>
        <p:txBody>
          <a:bodyPr/>
          <a:lstStyle/>
          <a:p>
            <a:pPr algn="ctr"/>
            <a:r>
              <a:rPr lang="es-ES" sz="4000" b="1" dirty="0" err="1">
                <a:solidFill>
                  <a:schemeClr val="bg1"/>
                </a:solidFill>
                <a:latin typeface="Times New Roman" panose="02020603050405020304" pitchFamily="18" charset="0"/>
                <a:cs typeface="Times New Roman" panose="02020603050405020304" pitchFamily="18" charset="0"/>
              </a:rPr>
              <a:t>Conclusion</a:t>
            </a:r>
            <a:r>
              <a:rPr lang="es-ES" sz="4000" dirty="0">
                <a:solidFill>
                  <a:schemeClr val="bg1"/>
                </a:solidFill>
                <a:latin typeface="Times New Roman" panose="02020603050405020304" pitchFamily="18" charset="0"/>
                <a:cs typeface="Times New Roman" panose="02020603050405020304" pitchFamily="18" charset="0"/>
              </a:rPr>
              <a:t> </a:t>
            </a:r>
          </a:p>
          <a:p>
            <a:endParaRPr lang="es-ES" sz="4000" dirty="0">
              <a:latin typeface="Candara" charset="0"/>
              <a:cs typeface="Arial" charset="0"/>
            </a:endParaRPr>
          </a:p>
          <a:p>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A311BE22-15C4-49E9-92D6-1535F166D04E}"/>
              </a:ext>
            </a:extLst>
          </p:cNvPr>
          <p:cNvSpPr txBox="1">
            <a:spLocks noChangeArrowheads="1"/>
          </p:cNvSpPr>
          <p:nvPr/>
        </p:nvSpPr>
        <p:spPr>
          <a:xfrm>
            <a:off x="-1" y="6436129"/>
            <a:ext cx="12191997" cy="401782"/>
          </a:xfrm>
          <a:prstGeom prst="rect">
            <a:avLst/>
          </a:prstGeom>
          <a:solidFill>
            <a:srgbClr val="C00000"/>
          </a:solidFill>
        </p:spPr>
        <p:txBody>
          <a:bodyPr/>
          <a:lstStyle/>
          <a:p>
            <a:pPr>
              <a:lnSpc>
                <a:spcPct val="90000"/>
              </a:lnSpc>
              <a:spcBef>
                <a:spcPct val="0"/>
              </a:spcBef>
              <a:defRPr/>
            </a:pPr>
            <a:r>
              <a:rPr kumimoji="0" lang="en-IN" altLang="zh-CN" sz="1800" b="1" i="0" u="none" strike="noStrike" kern="1200" cap="none" spc="0" normalizeH="0" baseline="0" noProof="0" dirty="0">
                <a:ln>
                  <a:noFill/>
                </a:ln>
                <a:solidFill>
                  <a:schemeClr val="bg1"/>
                </a:solidFill>
                <a:effectLst/>
                <a:uLnTx/>
                <a:uFillTx/>
                <a:latin typeface="Tinos"/>
                <a:ea typeface="+mj-ea"/>
                <a:cs typeface="+mj-cs"/>
              </a:rPr>
              <a:t>          	</a:t>
            </a:r>
            <a:r>
              <a:rPr lang="en-IN" sz="1800" b="1" dirty="0">
                <a:solidFill>
                  <a:schemeClr val="bg1"/>
                </a:solidFill>
              </a:rPr>
              <a:t>                                                  </a:t>
            </a:r>
            <a:endParaRPr lang="en-US" sz="2400" b="1" dirty="0">
              <a:solidFill>
                <a:schemeClr val="bg1"/>
              </a:solidFill>
            </a:endParaRPr>
          </a:p>
          <a:p>
            <a:pPr>
              <a:lnSpc>
                <a:spcPct val="90000"/>
              </a:lnSpc>
              <a:spcBef>
                <a:spcPct val="0"/>
              </a:spcBef>
              <a:defRPr/>
            </a:pPr>
            <a:endParaRPr lang="zh-CN" altLang="en-US" sz="2400" b="1" dirty="0">
              <a:solidFill>
                <a:schemeClr val="bg1"/>
              </a:solidFill>
              <a:latin typeface="Tinos"/>
            </a:endParaRPr>
          </a:p>
          <a:p>
            <a:pPr lvl="0">
              <a:lnSpc>
                <a:spcPct val="90000"/>
              </a:lnSpc>
              <a:spcBef>
                <a:spcPct val="0"/>
              </a:spcBef>
              <a:defRPr/>
            </a:pPr>
            <a:endParaRPr kumimoji="0" lang="en-IN" altLang="zh-CN" sz="2400" b="1" i="0" u="none" strike="noStrike" kern="1200" cap="none" spc="0" normalizeH="0" baseline="0" noProof="0" dirty="0">
              <a:ln>
                <a:noFill/>
              </a:ln>
              <a:solidFill>
                <a:schemeClr val="bg1"/>
              </a:solidFill>
              <a:effectLst/>
              <a:uLnTx/>
              <a:uFillTx/>
              <a:latin typeface="Tinos"/>
              <a:ea typeface="+mj-ea"/>
              <a:cs typeface="+mj-cs"/>
            </a:endParaRPr>
          </a:p>
        </p:txBody>
      </p:sp>
      <p:pic>
        <p:nvPicPr>
          <p:cNvPr id="1028" name="Picture 4" descr="https://galgotiacollege.edu/public/uploads/all/3106/phelosophy.jpeg">
            <a:extLst>
              <a:ext uri="{FF2B5EF4-FFF2-40B4-BE49-F238E27FC236}">
                <a16:creationId xmlns:a16="http://schemas.microsoft.com/office/drawing/2014/main" id="{A8415EEE-B85B-444D-966E-2290962AA0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453"/>
            <a:ext cx="1504949" cy="103311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BFA075A-FB90-19F8-2565-B2D19CE0A6C3}"/>
              </a:ext>
            </a:extLst>
          </p:cNvPr>
          <p:cNvSpPr txBox="1"/>
          <p:nvPr/>
        </p:nvSpPr>
        <p:spPr>
          <a:xfrm>
            <a:off x="1419218" y="1316415"/>
            <a:ext cx="10477507" cy="4377609"/>
          </a:xfrm>
          <a:prstGeom prst="rect">
            <a:avLst/>
          </a:prstGeom>
          <a:noFill/>
        </p:spPr>
        <p:txBody>
          <a:bodyPr wrap="square">
            <a:spAutoFit/>
          </a:bodyPr>
          <a:lstStyle/>
          <a:p>
            <a:pPr marL="285750" indent="-285750">
              <a:lnSpc>
                <a:spcPct val="13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ARTEMIS proposes the first closed-loop meta-RL framework that diagnoses RL trading failures at the trajectory level and automatically learns to adjust the reward function - solving the reward engineering bottleneck without any human intervention after initial setup.</a:t>
            </a:r>
          </a:p>
          <a:p>
            <a:pPr marL="285750" indent="-285750">
              <a:lnSpc>
                <a:spcPct val="13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All 18 modules are implemented and import-verified: data pipeline, trading environment, PPO agent, attention-augmented LSTM, SAC meta-policy, ablation framework, and 7-tab Streamlit live dashboard.</a:t>
            </a:r>
          </a:p>
          <a:p>
            <a:pPr marL="285750" indent="-285750">
              <a:lnSpc>
                <a:spcPct val="13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The system directly addresses SDG 8 (Decent Work and Economic Growth) by democratizing access to AI-driven financial tools, and SDG 9 (Industry, Innovation and Infrastructure) by introducing a novel meta-RL architecture that advances the state of the art in automated reward engineering.</a:t>
            </a:r>
          </a:p>
          <a:p>
            <a:pPr marL="285750" indent="-285750">
              <a:lnSpc>
                <a:spcPct val="13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Full training pipeline - PPO 500k steps, LSTM, SAC meta-policy, 4-condition ablation study - is the immediate next deliverable.</a:t>
            </a:r>
          </a:p>
          <a:p>
            <a:pPr marL="285750" indent="-285750">
              <a:lnSpc>
                <a:spcPct val="13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Target publication: ICAIF 2026 (ACM International Conference on AI in Finance) or NeurIPS Workshop on RL for Finance.</a:t>
            </a:r>
          </a:p>
        </p:txBody>
      </p:sp>
    </p:spTree>
    <p:extLst>
      <p:ext uri="{BB962C8B-B14F-4D97-AF65-F5344CB8AC3E}">
        <p14:creationId xmlns:p14="http://schemas.microsoft.com/office/powerpoint/2010/main" val="9027888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D6E46-E49D-5AFF-2074-FD6B9332BE4F}"/>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99EB9BF4-6501-987C-5B14-2E0FE2EB41B5}"/>
              </a:ext>
            </a:extLst>
          </p:cNvPr>
          <p:cNvSpPr txBox="1">
            <a:spLocks noChangeArrowheads="1"/>
          </p:cNvSpPr>
          <p:nvPr/>
        </p:nvSpPr>
        <p:spPr>
          <a:xfrm>
            <a:off x="1504943" y="-18057"/>
            <a:ext cx="10687051" cy="1033112"/>
          </a:xfrm>
          <a:prstGeom prst="rect">
            <a:avLst/>
          </a:prstGeom>
          <a:solidFill>
            <a:srgbClr val="C00000"/>
          </a:solidFill>
        </p:spPr>
        <p:txBody>
          <a:bodyPr/>
          <a:lstStyle/>
          <a:p>
            <a:pPr algn="ctr"/>
            <a:endParaRPr lang="en-IN" dirty="0">
              <a:solidFill>
                <a:schemeClr val="bg1"/>
              </a:solidFill>
              <a:latin typeface="Times New Roman" panose="02020603050405020304" pitchFamily="18" charset="0"/>
              <a:cs typeface="Times New Roman" panose="02020603050405020304" pitchFamily="18" charset="0"/>
            </a:endParaRPr>
          </a:p>
          <a:p>
            <a:pPr algn="ctr"/>
            <a:r>
              <a:rPr lang="en-US" sz="4000" b="1" dirty="0">
                <a:solidFill>
                  <a:schemeClr val="bg1"/>
                </a:solidFill>
                <a:latin typeface="Times New Roman" panose="02020603050405020304" pitchFamily="18" charset="0"/>
                <a:cs typeface="Times New Roman" panose="02020603050405020304" pitchFamily="18" charset="0"/>
              </a:rPr>
              <a:t>References</a:t>
            </a:r>
            <a:r>
              <a:rPr lang="es-ES" sz="4000" dirty="0">
                <a:solidFill>
                  <a:schemeClr val="bg1"/>
                </a:solidFill>
                <a:latin typeface="Times New Roman" panose="02020603050405020304" pitchFamily="18" charset="0"/>
                <a:cs typeface="Times New Roman" panose="02020603050405020304" pitchFamily="18" charset="0"/>
              </a:rPr>
              <a:t> </a:t>
            </a:r>
          </a:p>
          <a:p>
            <a:endParaRPr lang="es-ES" sz="4000" dirty="0">
              <a:latin typeface="Candara" charset="0"/>
              <a:cs typeface="Arial" charset="0"/>
            </a:endParaRPr>
          </a:p>
          <a:p>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1081B37E-83D9-4F17-96EF-3B24DA798DAE}"/>
              </a:ext>
            </a:extLst>
          </p:cNvPr>
          <p:cNvSpPr txBox="1">
            <a:spLocks noChangeArrowheads="1"/>
          </p:cNvSpPr>
          <p:nvPr/>
        </p:nvSpPr>
        <p:spPr>
          <a:xfrm>
            <a:off x="-1" y="6436129"/>
            <a:ext cx="12191997" cy="401782"/>
          </a:xfrm>
          <a:prstGeom prst="rect">
            <a:avLst/>
          </a:prstGeom>
          <a:solidFill>
            <a:srgbClr val="C00000"/>
          </a:solidFill>
        </p:spPr>
        <p:txBody>
          <a:bodyPr/>
          <a:lstStyle/>
          <a:p>
            <a:pPr>
              <a:lnSpc>
                <a:spcPct val="90000"/>
              </a:lnSpc>
              <a:spcBef>
                <a:spcPct val="0"/>
              </a:spcBef>
              <a:defRPr/>
            </a:pPr>
            <a:r>
              <a:rPr kumimoji="0" lang="en-IN" altLang="zh-CN" sz="1800" b="1" i="0" u="none" strike="noStrike" kern="1200" cap="none" spc="0" normalizeH="0" baseline="0" noProof="0" dirty="0">
                <a:ln>
                  <a:noFill/>
                </a:ln>
                <a:solidFill>
                  <a:schemeClr val="bg1"/>
                </a:solidFill>
                <a:effectLst/>
                <a:uLnTx/>
                <a:uFillTx/>
                <a:latin typeface="Tinos"/>
                <a:ea typeface="+mj-ea"/>
                <a:cs typeface="+mj-cs"/>
              </a:rPr>
              <a:t>          	</a:t>
            </a:r>
            <a:r>
              <a:rPr lang="en-IN" sz="1800" b="1" dirty="0">
                <a:solidFill>
                  <a:schemeClr val="bg1"/>
                </a:solidFill>
              </a:rPr>
              <a:t>                                                  </a:t>
            </a:r>
            <a:endParaRPr lang="en-US" sz="2400" b="1" dirty="0">
              <a:solidFill>
                <a:schemeClr val="bg1"/>
              </a:solidFill>
            </a:endParaRPr>
          </a:p>
          <a:p>
            <a:pPr>
              <a:lnSpc>
                <a:spcPct val="90000"/>
              </a:lnSpc>
              <a:spcBef>
                <a:spcPct val="0"/>
              </a:spcBef>
              <a:defRPr/>
            </a:pPr>
            <a:endParaRPr lang="zh-CN" altLang="en-US" sz="2400" b="1" dirty="0">
              <a:solidFill>
                <a:schemeClr val="bg1"/>
              </a:solidFill>
              <a:latin typeface="Tinos"/>
            </a:endParaRPr>
          </a:p>
          <a:p>
            <a:pPr lvl="0">
              <a:lnSpc>
                <a:spcPct val="90000"/>
              </a:lnSpc>
              <a:spcBef>
                <a:spcPct val="0"/>
              </a:spcBef>
              <a:defRPr/>
            </a:pPr>
            <a:endParaRPr kumimoji="0" lang="en-IN" altLang="zh-CN" sz="2400" b="1" i="0" u="none" strike="noStrike" kern="1200" cap="none" spc="0" normalizeH="0" baseline="0" noProof="0" dirty="0">
              <a:ln>
                <a:noFill/>
              </a:ln>
              <a:solidFill>
                <a:schemeClr val="bg1"/>
              </a:solidFill>
              <a:effectLst/>
              <a:uLnTx/>
              <a:uFillTx/>
              <a:latin typeface="Tinos"/>
              <a:ea typeface="+mj-ea"/>
              <a:cs typeface="+mj-cs"/>
            </a:endParaRPr>
          </a:p>
        </p:txBody>
      </p:sp>
      <p:pic>
        <p:nvPicPr>
          <p:cNvPr id="1028" name="Picture 4" descr="https://galgotiacollege.edu/public/uploads/all/3106/phelosophy.jpeg">
            <a:extLst>
              <a:ext uri="{FF2B5EF4-FFF2-40B4-BE49-F238E27FC236}">
                <a16:creationId xmlns:a16="http://schemas.microsoft.com/office/drawing/2014/main" id="{3DDA7A84-9F34-49C4-DB4E-0A731EFFBC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453"/>
            <a:ext cx="1504949" cy="103311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32562EE-1F5B-26F4-A64A-3C0C2B259359}"/>
              </a:ext>
            </a:extLst>
          </p:cNvPr>
          <p:cNvSpPr txBox="1"/>
          <p:nvPr/>
        </p:nvSpPr>
        <p:spPr>
          <a:xfrm>
            <a:off x="1438268" y="1323618"/>
            <a:ext cx="9791707" cy="2862322"/>
          </a:xfrm>
          <a:prstGeom prst="rect">
            <a:avLst/>
          </a:prstGeom>
          <a:noFill/>
        </p:spPr>
        <p:txBody>
          <a:bodyPr wrap="square">
            <a:spAutoFit/>
          </a:bodyPr>
          <a:lstStyle/>
          <a:p>
            <a:pPr marL="0" indent="0">
              <a:buNone/>
            </a:pPr>
            <a:r>
              <a:rPr lang="en-US" sz="1800" dirty="0">
                <a:latin typeface="Calibri" panose="020F0502020204030204"/>
              </a:rPr>
              <a:t>1. Schulman, J., et al. (2017). Proximal Policy Optimization Algorithms. arXiv:1707.06347.</a:t>
            </a:r>
          </a:p>
          <a:p>
            <a:pPr marL="0" indent="0">
              <a:buNone/>
            </a:pPr>
            <a:r>
              <a:rPr lang="en-US" sz="1800" dirty="0">
                <a:latin typeface="Calibri" panose="020F0502020204030204"/>
              </a:rPr>
              <a:t>2. Hochreiter, S., &amp; Schmidhuber, J. (1997). Long Short-Term Memory. Neural Computation, 9(8), 1735–1780.</a:t>
            </a:r>
          </a:p>
          <a:p>
            <a:pPr marL="0" indent="0">
              <a:buNone/>
            </a:pPr>
            <a:r>
              <a:rPr lang="en-US" sz="1800" dirty="0">
                <a:latin typeface="Calibri" panose="020F0502020204030204"/>
              </a:rPr>
              <a:t>3. Haarnoja, T., et al. (2018). Soft Actor-Critic: Off-Policy Maximum Entropy Deep RL. ICML 2018.</a:t>
            </a:r>
          </a:p>
          <a:p>
            <a:pPr marL="0" indent="0">
              <a:buNone/>
            </a:pPr>
            <a:r>
              <a:rPr lang="en-US" sz="1800" dirty="0">
                <a:latin typeface="Calibri" panose="020F0502020204030204"/>
              </a:rPr>
              <a:t>4. Ma, Y., et al. (2023). Eureka: Human-Level Reward Design via Coding LLMs. arXiv:2310.12931.</a:t>
            </a:r>
          </a:p>
          <a:p>
            <a:pPr marL="0" indent="0">
              <a:buNone/>
            </a:pPr>
            <a:r>
              <a:rPr lang="en-US" sz="1800" dirty="0">
                <a:latin typeface="Calibri" panose="020F0502020204030204"/>
              </a:rPr>
              <a:t>5. Liu, X. Y., et al. (2022). FinRL: Deep RL Framework for Quantitative Finance. ACM ICAIF 2022.</a:t>
            </a:r>
          </a:p>
          <a:p>
            <a:pPr marL="0" indent="0">
              <a:buNone/>
            </a:pPr>
            <a:r>
              <a:rPr lang="en-US" sz="1800" dirty="0">
                <a:latin typeface="Calibri" panose="020F0502020204030204"/>
              </a:rPr>
              <a:t>6. Finn, C., Abbeel, P., &amp; Levine, S. (2017). Model-Agnostic Meta-Learning. ICML 2017.</a:t>
            </a:r>
          </a:p>
          <a:p>
            <a:pPr marL="0" indent="0">
              <a:buNone/>
            </a:pPr>
            <a:r>
              <a:rPr lang="en-US" sz="1800" dirty="0">
                <a:latin typeface="Calibri" panose="020F0502020204030204"/>
              </a:rPr>
              <a:t>7. Towers, M., et al. (2023). Gymnasium: A Standard Interface for RL Environments. Farama Foundation.</a:t>
            </a:r>
          </a:p>
          <a:p>
            <a:pPr marL="0" indent="0">
              <a:buNone/>
            </a:pPr>
            <a:r>
              <a:rPr lang="en-US" sz="1800" dirty="0">
                <a:latin typeface="Calibri" panose="020F0502020204030204"/>
              </a:rPr>
              <a:t>8. Raffin, A., et al. (2021). Stable-Baselines3: Reliable RL Implementations. JMLR, 22(268), 1–8.</a:t>
            </a:r>
          </a:p>
          <a:p>
            <a:pPr marL="0" indent="0">
              <a:buNone/>
            </a:pPr>
            <a:r>
              <a:rPr lang="en-US" sz="1800" dirty="0">
                <a:latin typeface="Calibri" panose="020F0502020204030204"/>
              </a:rPr>
              <a:t>9. Paszke, A., et al. (2019). PyTorch: An Imperative Style Deep Learning Library. NeurIPS 32.</a:t>
            </a:r>
          </a:p>
        </p:txBody>
      </p:sp>
    </p:spTree>
    <p:extLst>
      <p:ext uri="{BB962C8B-B14F-4D97-AF65-F5344CB8AC3E}">
        <p14:creationId xmlns:p14="http://schemas.microsoft.com/office/powerpoint/2010/main" val="25491792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9ED99B-DBC5-4426-BBC6-8BBB2E2998D2}"/>
              </a:ext>
            </a:extLst>
          </p:cNvPr>
          <p:cNvSpPr txBox="1">
            <a:spLocks noChangeArrowheads="1"/>
          </p:cNvSpPr>
          <p:nvPr/>
        </p:nvSpPr>
        <p:spPr>
          <a:xfrm>
            <a:off x="1504943" y="-18057"/>
            <a:ext cx="10687051" cy="1033112"/>
          </a:xfrm>
          <a:prstGeom prst="rect">
            <a:avLst/>
          </a:prstGeom>
          <a:solidFill>
            <a:srgbClr val="C00000"/>
          </a:solidFill>
        </p:spPr>
        <p:txBody>
          <a:bodyPr/>
          <a:lstStyle/>
          <a:p>
            <a:pPr algn="ctr" fontAlgn="base"/>
            <a:r>
              <a:rPr lang="en-IN" sz="4000" b="1" dirty="0">
                <a:solidFill>
                  <a:schemeClr val="bg1"/>
                </a:solidFill>
                <a:latin typeface="Times New Roman" panose="02020603050405020304" pitchFamily="18" charset="0"/>
                <a:cs typeface="Times New Roman" panose="02020603050405020304" pitchFamily="18" charset="0"/>
              </a:rPr>
              <a:t>                                 </a:t>
            </a:r>
            <a:endParaRPr lang="en-IN" sz="4000" dirty="0">
              <a:solidFill>
                <a:schemeClr val="bg1"/>
              </a:solidFill>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A311BE22-15C4-49E9-92D6-1535F166D04E}"/>
              </a:ext>
            </a:extLst>
          </p:cNvPr>
          <p:cNvSpPr txBox="1">
            <a:spLocks noChangeArrowheads="1"/>
          </p:cNvSpPr>
          <p:nvPr/>
        </p:nvSpPr>
        <p:spPr>
          <a:xfrm>
            <a:off x="19879" y="6436129"/>
            <a:ext cx="12191997" cy="401782"/>
          </a:xfrm>
          <a:prstGeom prst="rect">
            <a:avLst/>
          </a:prstGeom>
          <a:solidFill>
            <a:srgbClr val="C00000"/>
          </a:solidFill>
        </p:spPr>
        <p:txBody>
          <a:bodyPr/>
          <a:lstStyle/>
          <a:p>
            <a:pPr>
              <a:lnSpc>
                <a:spcPct val="90000"/>
              </a:lnSpc>
              <a:spcBef>
                <a:spcPct val="0"/>
              </a:spcBef>
              <a:defRPr/>
            </a:pPr>
            <a:r>
              <a:rPr kumimoji="0" lang="en-IN" altLang="zh-CN" sz="2400" b="1" i="0" u="none" strike="noStrike" kern="1200" cap="none" spc="0" normalizeH="0" baseline="0" noProof="0" dirty="0">
                <a:ln>
                  <a:noFill/>
                </a:ln>
                <a:solidFill>
                  <a:schemeClr val="bg1"/>
                </a:solidFill>
                <a:effectLst/>
                <a:uLnTx/>
                <a:uFillTx/>
                <a:latin typeface="Tinos"/>
                <a:ea typeface="+mj-ea"/>
                <a:cs typeface="+mj-cs"/>
              </a:rPr>
              <a:t>          	</a:t>
            </a:r>
            <a:r>
              <a:rPr lang="en-IN" sz="2400" b="1" dirty="0">
                <a:solidFill>
                  <a:schemeClr val="bg1"/>
                </a:solidFill>
              </a:rPr>
              <a:t>                                                     </a:t>
            </a:r>
            <a:endParaRPr lang="en-US" sz="2400" b="1" dirty="0">
              <a:solidFill>
                <a:schemeClr val="bg1"/>
              </a:solidFill>
            </a:endParaRPr>
          </a:p>
          <a:p>
            <a:pPr>
              <a:lnSpc>
                <a:spcPct val="90000"/>
              </a:lnSpc>
              <a:spcBef>
                <a:spcPct val="0"/>
              </a:spcBef>
              <a:defRPr/>
            </a:pPr>
            <a:endParaRPr lang="zh-CN" altLang="en-US" sz="2400" b="1" dirty="0">
              <a:solidFill>
                <a:schemeClr val="bg1"/>
              </a:solidFill>
              <a:latin typeface="Tinos"/>
            </a:endParaRPr>
          </a:p>
          <a:p>
            <a:pPr lvl="0">
              <a:lnSpc>
                <a:spcPct val="90000"/>
              </a:lnSpc>
              <a:spcBef>
                <a:spcPct val="0"/>
              </a:spcBef>
              <a:defRPr/>
            </a:pPr>
            <a:endParaRPr kumimoji="0" lang="en-IN" altLang="zh-CN" sz="2400" b="1" i="0" u="none" strike="noStrike" kern="1200" cap="none" spc="0" normalizeH="0" baseline="0" noProof="0" dirty="0">
              <a:ln>
                <a:noFill/>
              </a:ln>
              <a:solidFill>
                <a:schemeClr val="bg1"/>
              </a:solidFill>
              <a:effectLst/>
              <a:uLnTx/>
              <a:uFillTx/>
              <a:latin typeface="Tinos"/>
              <a:ea typeface="+mj-ea"/>
              <a:cs typeface="+mj-cs"/>
            </a:endParaRPr>
          </a:p>
        </p:txBody>
      </p:sp>
      <p:sp>
        <p:nvSpPr>
          <p:cNvPr id="6" name="TextBox 5">
            <a:extLst>
              <a:ext uri="{FF2B5EF4-FFF2-40B4-BE49-F238E27FC236}">
                <a16:creationId xmlns:a16="http://schemas.microsoft.com/office/drawing/2014/main" id="{7938415B-9138-40A8-9E17-54906A209D78}"/>
              </a:ext>
            </a:extLst>
          </p:cNvPr>
          <p:cNvSpPr txBox="1"/>
          <p:nvPr/>
        </p:nvSpPr>
        <p:spPr>
          <a:xfrm>
            <a:off x="2487226" y="1166842"/>
            <a:ext cx="7055398" cy="4524315"/>
          </a:xfrm>
          <a:prstGeom prst="rect">
            <a:avLst/>
          </a:prstGeom>
          <a:noFill/>
        </p:spPr>
        <p:txBody>
          <a:bodyPr wrap="square">
            <a:spAutoFit/>
          </a:bodyPr>
          <a:lstStyle/>
          <a:p>
            <a:endParaRPr lang="es-ES" sz="9600" i="1" dirty="0">
              <a:latin typeface="Candara" charset="0"/>
              <a:cs typeface="Arial" charset="0"/>
            </a:endParaRPr>
          </a:p>
          <a:p>
            <a:pPr algn="ctr"/>
            <a:r>
              <a:rPr lang="en-IN" sz="9600" i="1" dirty="0"/>
              <a:t>Thank You</a:t>
            </a:r>
          </a:p>
          <a:p>
            <a:pPr algn="ctr"/>
            <a:r>
              <a:rPr lang="en-IN" sz="9600" i="1" dirty="0"/>
              <a:t> </a:t>
            </a:r>
            <a:endParaRPr lang="en-US" sz="9600" i="1" dirty="0"/>
          </a:p>
        </p:txBody>
      </p:sp>
      <p:pic>
        <p:nvPicPr>
          <p:cNvPr id="1028" name="Picture 4" descr="https://galgotiacollege.edu/public/uploads/all/3106/phelosophy.jpeg">
            <a:extLst>
              <a:ext uri="{FF2B5EF4-FFF2-40B4-BE49-F238E27FC236}">
                <a16:creationId xmlns:a16="http://schemas.microsoft.com/office/drawing/2014/main" id="{A8415EEE-B85B-444D-966E-2290962AA0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453"/>
            <a:ext cx="1504949" cy="1033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28916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4B9DC09-EC48-4574-A4ED-BEB0A1809FC1}">
  <we:reference id="wa200010001" version="1.0.0.1" store="en-US" storeType="OMEX"/>
  <we:alternateReferences>
    <we:reference id="WA200010001" version="1.0.0.1" store="WA200010001" storeType="OMEX"/>
  </we:alternateReferences>
  <we:properties>
    <we:property name="claude.fileId" value="&quot;404c5ced-5444-4201-8fc0-6de7428428f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417</TotalTime>
  <Words>2542</Words>
  <Application>Microsoft Office PowerPoint</Application>
  <PresentationFormat>Widescreen</PresentationFormat>
  <Paragraphs>214</Paragraphs>
  <Slides>20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Calibri Light</vt:lpstr>
      <vt:lpstr>Candara</vt:lpstr>
      <vt:lpstr>Times New Roman</vt:lpstr>
      <vt:lpstr>Tinos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Avijeet Singh</dc:creator>
  <cp:lastModifiedBy>Deepika Singh</cp:lastModifiedBy>
  <cp:revision>22</cp:revision>
  <dcterms:created xsi:type="dcterms:W3CDTF">2024-12-30T17:50:15Z</dcterms:created>
  <dcterms:modified xsi:type="dcterms:W3CDTF">2026-09-08T13:53:26Z</dcterms:modified>
</cp:coreProperties>
</file>